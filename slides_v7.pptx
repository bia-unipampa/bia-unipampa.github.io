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Cumprimente e situe: este é o BIA, o primeiro bacharelado do Brasil 100% dedicado à Inteligência Artificial, na UNIPAMPA. Diga que, em cerca de 15 minutos, vai mostrar por que este projeto pode ser o maior legado tecnológico que o senhor deixa para o estado e para o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Crie o enquadramento grande. A IA é a nova eletricidade: vai redefinir todos os setores. Países e regiões se dividirão entre os que dominam a tecnologia e os que apenas a consomem. Esse é o jogo do século.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tamanho do prêmio. Até R$ 2 trilhões de potencial na economia brasileira até 2030 (BID). Déficit de 800 mil profissionais (Brasscom). Salários de R$ 9 a 12 mil. Esse valor vai para alguma região: a pergunta é se o interior assiste ou lidera.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urgência estratégica. IA virou infraestrutura crítica, como energia e defesa. Hoje o Brasil depende de modelos, chips e nuvem estrangeiros e está atrasado na corrida: faltam profissionais, GPUs e formação dedicada. Soberania em IA não se importa pronta: constrói-se formando talento nacional e dominando a tecnologia. É exatamente o papel do BIA e da universidade pública.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Justifique o lugar e o alcance. O interior é laboratório natural de IA aplicada (agro, logística, energia). A UNIPAMPA já recebe estudantes de todas as regiões do país e de outros estados, então o BIA nasce com alcance nacional. Formar IA aqui fixa talento, descentraliza o desenvolvimento e protege o bioma Pampa. O Brasil que queremos começa pelo interior.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Diferencial central. Não é mais um curso de computação: é o único 100% IA do país (os demais ficam em torno de 50%). 8 semestres, 3.210 horas, 6 eixos, metodologia ABP do primeiro ao último semestre. Formação profunda e 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diferencial disruptivo e a vantagem de mercado. Destaque a trilha de Resolução de Problemas: seis componentes, um por semestre, 720 horas (o maior eixo do curso, cerca de 22%), com extensão, hackathons e datathons sobre problemas e dados reais. O resultado é um profissional que chega ao mercado com anos de prática, portfólio e trabalho em equipe: mais sênior e pronto desde o primeiro dia. Enquanto outros formam quem sabe a teoria, o BIA entrega quem já sabe resolver.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de capacidade. Já fazemos ciência de classe mundial: o conjunto de dados MH-1M, com 1,34 milhão de amostras e 22.810 atributos, publicado na Nature Scientific Data em 2025. E o AI Horizon Labs, nosso motor de pesquisa, com financiamento FAPERGS, vínculo com a pós-graduação (PPGES) e mais de 5 parcerias. Esse grupo é a base e o veículo de captação de recursos do 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 crítico e ponte para o pedido. Temos os dados e os cérebros. Falta a máquina. 400 GB e 1,34 milhão de amostras não se treinam em computador comum: sem GPUs H100, esses dados de ponta ficam parados. É exatamente esse gargalo que buscamos destravar com apoio, parcerias e editais.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tração real para reduzir a percepção de risco. Protocolo no MEC, concurso público já lançado para 4 vagas de docentes, PPC completo de 236 páginas, site no ar. Não é ideia: é execução em andamento. Falta o recurso de implantação.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de demanda e apoio. 357 respostas em pesquisas, 86% de importância máxima, 80% creem em impacto. Mais de 20 municípios parceiros, mais de 20 cartas de apoio, 12 bolsas sociais de prefeituras parceiras, apoio unânime dos prefeitos da AMFRO. A base política regional já está construída.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Parceiros confirmados. Mostre que o apoio é concreto e com compromisso firmado: o PampaTec (parque tecnológico) e a Prefeitura são parceiros estratégicos com contrapartida, além de mais de 25 instituições apoiadoras, de associações de municípios e do SEBRAE a cooperativas e empresas de tecnologia. Convide o deputado a apontar a câmera para o QR code e ver a lista completa no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Aterrisse no concreto, na ordem de prioridade: agronegócio, saúde, educação fundamental e tecnologia e inovação (ligada ao PampaTec), além de cibersegurança e gestão pública por dados. IA que já vira valor no dia a dia das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concreto de IA com impacto social. Apresente o ZapRaf, projeto selecionado no Programa Centelha 3/RS: um assistente de IA no WhatsApp que dá rastreabilidade ao pequeno produtor e garante o acesso ao mercado da merenda escolar (PNAE), cumprindo a INC 02/2018. A agricultura familiar produz 70% dos alimentos do país e está em 68% dos municípios. O projeto já tem software e marca registrados no INPI e nasce do mesmo ecossistema do BIA. É a prova viva de que o BIA gera projetos que captam recursos e transformam 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argumento financeiro, e seja ambicioso. O custo de implantação é R$ 23 milhões. Uma única startup de base tecnológica, em caso real, já vale R$ 29 milhões: sozinha, supera todo o investimento. A projeção conservadora é de R$ 120 a 180 milhões em dez anos, e isso é apenas o piso. Com cada nova startup, patente e edital, o teto é aberto.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Detalhe o retorno. Mais de 400 empregos, 15 a 20 startups, 100% de empregabilidade em 12 meses, R$ 40 a 70 milhões em aportes privados de gigantes do agro, patentes e softwares, R$ 15 a 30 milhões em editais de P&amp;D.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Pinte a visão de longo prazo. O Vale da IA do Pampa: novo ecossistema e nova identidade econômica para o interior do Rio Grande do Sul e do Brasil, com inserção em redes globais (FAO, CGIAR, NVIDIA, Google Research, Embrapa, laboratórios John Deere e Bayer).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o alcance ultrapassa a região. Especialização (alta demanda), mestrado, a ENIA (Escola Nacional de IA, pública e gratuita, IA para todos) e a ERAMIA-RS. Começa na UNIPAMPA e chega ao Brasil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Clímax do pitch. Por que isto rende mais que uma grande obra? Uma obra tradicional (rodovia, ponte, prédio) é essencial, porém deprecia: serve a um fluxo fixo, num só lugar, e perde valor com o tempo. Um polo de IA é um ativo que se valoriza e se multiplica: forma pessoas, empresas e patentes e potencializa todas as outras obras, do agro à saúde, da educação à gestão pública. A IA é a infraestrutura que multiplica todas as outras.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Reduza o risco político. Apoiar o BIA é executar a agenda nacional já existente: PBIA 2025, PNCTI 2030, EBIA, E-Digital, Neoindustrialização, COP30 (item 27), Universidades Inovadoras. O senhor entra alinhado com o Estado brasileiro.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pedido, claro e direto. R$ 23 milhões (infraestrutura, GPUs H100 e RTX 4090, acervo), 15 docentes doutores e 3 técnicos. E mostre os caminhos concretos de atuação: emenda parlamentar, articulação com MEC e MCTI, editais FINEP e FNDCT, parcerias com a indústria, FAPERGS, cooperação internacional. Buscamos ativamente parcerias e editais para a infraestrutura mínima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emocional. A janela é agora: a base está pronta, a ciência já existe, o projeto está protocolado. Falta a decisão política. Convide o deputado a ser lembrado como quem trouxe o futuro da IA para o interior do Brasil. Deixe os contatos e ofereça uma visita à UNIPAMPA e ao AI Horizon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91056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713232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20">
                <a:solidFill>
                  <a:srgbClr val="9AA6BC"/>
                </a:solidFill>
                <a:latin typeface="Arial"/>
              </a:rPr>
              <a:t>UNIVERSIDADE FEDERAL DO PAMPA  ·  RIO GRANDE DO SUL  · 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11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F2F5FC"/>
                </a:solidFill>
                <a:latin typeface="Arial"/>
              </a:rPr>
              <a:t>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Bacharelado em Inteligência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2F5FC"/>
                </a:solidFill>
                <a:latin typeface="Arial"/>
              </a:rPr>
              <a:t>O primeiro curso de graduação do Brasil com 100% da matriz dedicada à Inteligência Artificial.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Proposta de implantação  ·  Protocolo MEC NUP 23000.037497/2025-83  ·  bia@unipampa.edu.br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3840480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9AA6BC"/>
                </a:solidFill>
                <a:latin typeface="Arial"/>
              </a:rPr>
              <a:t>ACESSE O SITE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8" y="4114800"/>
            <a:ext cx="1883664" cy="1993392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4334256"/>
            <a:ext cx="1298448" cy="12984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55480" y="57424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61E33"/>
                </a:solidFill>
                <a:latin typeface="Arial"/>
              </a:rPr>
              <a:t>bia-unipampa.github.io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8638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65836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O PONTO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54480"/>
            <a:ext cx="10698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2F5FC"/>
                </a:solidFill>
                <a:latin typeface="Arial"/>
              </a:rPr>
              <a:t>A IA é a nova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B02E"/>
                </a:solidFill>
                <a:latin typeface="Arial"/>
              </a:rPr>
              <a:t>eletricidade.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BC"/>
                </a:solidFill>
                <a:latin typeface="Arial"/>
              </a:rPr>
              <a:t>Como a eletricidade no século XX, a Inteligência Artificial vai redefinir todos os setores: o agro, a saúde, a indústria, a segurança e o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2F5FC"/>
                </a:solidFill>
                <a:latin typeface="Arial"/>
              </a:rPr>
              <a:t>A pergunta não é </a:t>
            </a:r>
            <a:r>
              <a:rPr sz="2000" b="1" i="1">
                <a:solidFill>
                  <a:srgbClr val="36CF66"/>
                </a:solidFill>
                <a:latin typeface="Arial"/>
              </a:rPr>
              <a:t>se</a:t>
            </a:r>
            <a:r>
              <a:rPr sz="2000" b="0" i="0">
                <a:solidFill>
                  <a:srgbClr val="F2F5FC"/>
                </a:solidFill>
                <a:latin typeface="Arial"/>
              </a:rPr>
              <a:t> isso vai acontecer. É </a:t>
            </a:r>
            <a:r>
              <a:rPr sz="2000" b="1" i="0">
                <a:solidFill>
                  <a:srgbClr val="FFB02E"/>
                </a:solidFill>
                <a:latin typeface="Arial"/>
              </a:rPr>
              <a:t>quem</a:t>
            </a:r>
            <a:r>
              <a:rPr sz="2000" b="0" i="0">
                <a:solidFill>
                  <a:srgbClr val="F2F5FC"/>
                </a:solidFill>
                <a:latin typeface="Arial"/>
              </a:rPr>
              <a:t> vai dominar a tecnologia, e quem vai apenas consumi-la.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TAMANHO DA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5FC"/>
                </a:solidFill>
                <a:latin typeface="Arial"/>
              </a:rPr>
              <a:t>A corrida já começou. E vale trilhões.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109728" cy="2834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R$ 2 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potencial de acréscimo à economia brasileira até 2030 com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BID,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286000"/>
            <a:ext cx="109728" cy="283464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4D8DF7"/>
                </a:solidFill>
                <a:latin typeface="Arial"/>
              </a:rPr>
              <a:t>800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déficit de profissionais de tecnologia no Brasil até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BRASSCOM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286000"/>
            <a:ext cx="109728" cy="2834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6CF66"/>
                </a:solidFill>
                <a:latin typeface="Arial"/>
              </a:rPr>
              <a:t>R$ 9 a 12 mil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salário inicial de um profissional de IA no país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DEMANDA REPRIMIDA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BC"/>
                </a:solidFill>
                <a:latin typeface="Arial"/>
              </a:rPr>
              <a:t>Esse valor vai para alguma região. A questão é: </a:t>
            </a:r>
            <a:r>
              <a:rPr sz="1900" b="1" i="0">
                <a:solidFill>
                  <a:srgbClr val="FFB02E"/>
                </a:solidFill>
                <a:latin typeface="Arial"/>
              </a:rPr>
              <a:t>o interior vai assistir ou vai liderar?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A0E12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QUESTÃO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IA é soberania. E o Brasil está atrasado.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A6BC"/>
                </a:solidFill>
                <a:latin typeface="Arial"/>
              </a:rPr>
              <a:t>A Inteligência Artificial virou infraestrutura crítica, como energia, telecomunicações e defesa. Quem não a domina, depende de quem domina.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3419856" cy="26517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09728" cy="265176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Dependência hoje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273405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Modelos, chips e nuvem vêm de fora. Dados e decisões estratégicas do país passam por tecnologia estrangeira.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788920"/>
            <a:ext cx="3419856" cy="26517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788920"/>
            <a:ext cx="109728" cy="265176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310896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O atraso brasileiro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703320"/>
            <a:ext cx="273405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Faltam profissionais, infraestrutura de GPUs e formação dedicada. O Brasil ainda está na periferia da corrida global.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88920"/>
            <a:ext cx="3419856" cy="26517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788920"/>
            <a:ext cx="109728" cy="265176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10896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Soberania se constrói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703320"/>
            <a:ext cx="273405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Não se importa soberania: ela nasce formando talento nacional e dominando a tecnologia. É o que o BIA faz.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6CF66"/>
                </a:solidFill>
                <a:latin typeface="Arial"/>
              </a:rPr>
              <a:t>Formar gente que cria IA no Brasil é uma decisão de soberania nacional. E começa pela universidade pública.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POR QUE A UNIPAMPA, POR QUE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F5FC"/>
                </a:solidFill>
                <a:latin typeface="Arial"/>
              </a:rPr>
              <a:t>O Brasil que queremos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6CF66"/>
                </a:solidFill>
                <a:latin typeface="Arial"/>
              </a:rPr>
              <a:t>começa pelo interior.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8036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Laboratório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 interior é potência em agro, logística e energia: o cenário ideal para IA aplicada com retorno real e imediato.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88036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Talento de todo o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A UNIPAMPA já recebe estudantes de todas as regiões do país e de outros estados. O BIA nasce com alcance nacional.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628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80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Descentralizar o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377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A inovação de ponta não pode se concentrar só nas capitais. O desenvolvimento equilibrado combate a desigualdade territorial.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52628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480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Bioma único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9377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 Pampa, um dos biomas mais ameaçados do país, ganha tecnologia de vanguarda para preservação e transição climática justa.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Não é mais um curso de computação. É o primeiro 100% 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Percentual da matriz dedicado à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5FC"/>
                </a:solidFill>
                <a:latin typeface="Arial"/>
              </a:rPr>
              <a:t>BIA UNIPAMPA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A0E1A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8386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5FC"/>
                </a:solidFill>
                <a:latin typeface="Arial"/>
              </a:rPr>
              <a:t>UFG / UFRN / UFSM / UFMS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66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Os demais cursos do país reaproveitam disciplinas genéricas de Ciência da Computação. O BIA foi concebido do zero, integralmente em IA moderna.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4884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46888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68880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semestres de formação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291840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355848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3.210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355848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horas de curso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178808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242816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242816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eixos estruturantes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065776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5129784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ABP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129784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aprendizagem baseada em problemas, do 1º ao último semestre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O DIFERENCIAL DISRUPTIVO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2F5FC"/>
                </a:solidFill>
                <a:latin typeface="Arial"/>
              </a:rPr>
              <a:t>Resolver problemas reais, todo semestre.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B02E"/>
                </a:solidFill>
                <a:latin typeface="Arial"/>
              </a:rPr>
              <a:t>Um profissional mais sênior para o mercado.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Em todo semestre, os estudantes resolvem problemas reais da indústria e da sociedade, integrando tudo o que aprendem. É o maior eixo do curso.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2487168" cy="1261872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63824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B02E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94176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componentes de Resolução de Problemas, um por semestre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017520"/>
            <a:ext cx="2487168" cy="1261872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163824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4D8DF7"/>
                </a:solidFill>
                <a:latin typeface="Arial"/>
              </a:rPr>
              <a:t>720h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694176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de projeto integrado, o maior eixo da matriz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89120"/>
            <a:ext cx="2487168" cy="1261872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35424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6CF66"/>
                </a:solidFill>
                <a:latin typeface="Arial"/>
              </a:rPr>
              <a:t>22%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65776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do curso dedicados a resolver problemas reais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389120"/>
            <a:ext cx="2487168" cy="1261872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4535424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8B6CFF"/>
                </a:solidFill>
                <a:latin typeface="Arial"/>
              </a:rPr>
              <a:t>330h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5065776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de extensão, com impacto direto na comunidade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017520"/>
            <a:ext cx="5029200" cy="269748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21868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6CF66"/>
                </a:solidFill>
                <a:latin typeface="Arial"/>
              </a:rPr>
              <a:t>O resultado: pronto desde o primeiro dia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813048"/>
            <a:ext cx="137160" cy="13716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74904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Anos de prática em problemas reais antes de se formar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4288536"/>
            <a:ext cx="137160" cy="13716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22452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Portfólio de projetos e experiência de trabalho em equipe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4764024"/>
            <a:ext cx="137160" cy="13716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70001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Sabe formular, decidir e entregar, não apenas programar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5239512"/>
            <a:ext cx="137160" cy="13716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5175504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Começa a carreira mais sênior que um recém-formado típico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36CF66"/>
                </a:solidFill>
                <a:latin typeface="Arial"/>
              </a:rPr>
              <a:t>Enquanto outros cursos formam quem domina a teoria, o BIA entrega ao mercado um profissional pronto e mais sênior. Esse é o salto.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NÃO PARTIMOS DO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Já fazemos ciência de IA de classe mundial, aqui.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6400800" cy="3703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468880"/>
            <a:ext cx="3863339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59736"/>
            <a:ext cx="38633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20">
                <a:solidFill>
                  <a:srgbClr val="8B6CFF"/>
                </a:solidFill>
                <a:latin typeface="Arial"/>
              </a:rPr>
              <a:t>NATURE  ·  SCIENTIFIC DATA  ·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2F5FC"/>
                </a:solidFill>
                <a:latin typeface="Arial"/>
              </a:rPr>
              <a:t>MH-1M</a:t>
            </a:r>
            <a:r>
              <a:rPr sz="2000" b="0" i="0">
                <a:solidFill>
                  <a:srgbClr val="9AA6BC"/>
                </a:solidFill>
                <a:latin typeface="Arial"/>
              </a:rPr>
              <a:t> 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3192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Um dos maiores conjuntos de dados de malware Android do mundo, publicado na Nature por pesquisadores da UNIPAMPA e da UFAM.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1,34 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amostras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22.810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atributos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400+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de dados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194560"/>
            <a:ext cx="3886200" cy="37033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194560"/>
            <a:ext cx="3886200" cy="10972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5146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2F5FC"/>
                </a:solidFill>
                <a:latin typeface="Arial"/>
              </a:rPr>
              <a:t>AI Horizon 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6CF66"/>
                </a:solidFill>
                <a:latin typeface="Arial"/>
              </a:rPr>
              <a:t>O motor de pesquisa do campus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65760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FAPERGS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financiamento de pesquisa aprovado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261104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Pós-graduação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vínculo com o PPGES (mestrado)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6460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5+ parcerias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já estabelecidas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46811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ML  ·  PLN  ·  Eng. de Software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linhas de pesquisa ativas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A0E12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05A5A"/>
                </a:solidFill>
                <a:latin typeface="Arial"/>
              </a:rPr>
              <a:t>O PONTO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5FC"/>
                </a:solidFill>
                <a:latin typeface="Arial"/>
              </a:rPr>
              <a:t>Temos os dados. Temos os cérebros.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Falta a máquina.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F2F5FC"/>
                </a:solidFill>
                <a:latin typeface="Arial"/>
              </a:rPr>
              <a:t>Um conjunto de 400 GB e 1,34 milhão de amostras não se treina em computador comum.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9AA6BC"/>
                </a:solidFill>
                <a:latin typeface="Arial"/>
              </a:rPr>
              <a:t>Sem GPUs de alto desempenho, esses dados de ponta ficam parados. A produção científica existe, mas não se converte em modelos, produtos e patentes.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06040"/>
            <a:ext cx="3840480" cy="2788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8346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A infraestrutura mínima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364992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10x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364992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GPUs NVIDIA H100 (servidores)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02336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50x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02336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estações com RTX 4090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681728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LLMs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4681728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treino e ajuste fino de modelos de 7B a 70B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6CF66"/>
                </a:solidFill>
                <a:latin typeface="Arial"/>
              </a:rPr>
              <a:t>Esse é exatamente o gargalo que buscamos destravar com apoio, parcerias e editais.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TRAÇÃO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Isto não é uma ideia no papel. Já está acontecendo.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9728" cy="169164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Protocolo no MEC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004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Demanda do curso e dos recursos registrada oficialmente. NUP 23000.037497/2025-83.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109728" cy="1691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Concurso já lançado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004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Concurso público aberto para 4 vagas de docentes do novo bacharelado.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51960"/>
            <a:ext cx="109728" cy="169164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26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PPC pronto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Projeto Pedagógico completo: 236 páginas, com matriz curricular moderna e validada.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519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251960"/>
            <a:ext cx="109728" cy="1691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26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Presença pública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206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Site oficial, identidade visual e comunicação ativa do curso já no 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APOIO SOCIAL E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A região já disse sim. Em números e em cartas.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4D8DF7"/>
                </a:solidFill>
                <a:latin typeface="Arial"/>
              </a:rPr>
              <a:t>357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respostas em pesquisas de interesse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B02E"/>
                </a:solidFill>
                <a:latin typeface="Arial"/>
              </a:rPr>
              <a:t>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consideram o curso da máxima importância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36CF66"/>
                </a:solidFill>
                <a:latin typeface="Arial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creem em impacto positivo na região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+20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municípios parceiros no Rio Grande do Sul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+20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cartas oficiais de apoio de empresas e entidades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bolsas sociais anuais (prefeituras parceiras)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dos prefeitos da AMFRO apoiam a proposta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533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40">
                <a:solidFill>
                  <a:srgbClr val="66728A"/>
                </a:solidFill>
                <a:latin typeface="Arial"/>
              </a:rPr>
              <a:t>AMFRO  ·  ULFRO  ·  CODEPAMPA  ·  PampaTec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QUEM JÁ APOIA O 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2F5FC"/>
                </a:solidFill>
                <a:latin typeface="Arial"/>
              </a:rPr>
              <a:t>Parceiros confirmados, com compromisso firmado.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PampaTec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042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Parque Científico e Tecnológico do Pampa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40">
                <a:solidFill>
                  <a:srgbClr val="FFB02E"/>
                </a:solidFill>
                <a:latin typeface="Arial"/>
              </a:rPr>
              <a:t>Parceiro estratégico  ·  com contrapartida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019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Prefeitura de Alegrete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042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Apoio e contrapartida firmados ao 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40">
                <a:solidFill>
                  <a:srgbClr val="FFB02E"/>
                </a:solidFill>
                <a:latin typeface="Arial"/>
              </a:rPr>
              <a:t>Parceiro estratégico  ·  com contrapartida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923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6CF66"/>
                </a:solidFill>
                <a:latin typeface="Arial"/>
              </a:rPr>
              <a:t>Mais de 25 instituições apoiadoras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56432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AMFRO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456432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ULFRO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43016" y="3456432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COREDE Fronteira Oeste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744468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SEBRAE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5848" y="3744468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2736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Sicredi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43016" y="3744468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4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Câmara de Vereadores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032504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Centro Empresarial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5848" y="4032504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Sindilojas Alegrete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43016" y="4032504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Grupo Pilecco Nobre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320540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Fundação Maronna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55848" y="4320540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2736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Kabongo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43016" y="4320540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9904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DevPampa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608576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Agrare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55848" y="4608576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2736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Dwtec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43016" y="4608576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9904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EGD Energia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96612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EIXO Data Lab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55848" y="4896612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2736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Controll Customs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43016" y="4896612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9904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Lite SaaS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5184648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5568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Venda ERP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55848" y="5184648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02736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Agendei Quadras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43016" y="5184648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9904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Fontoura e Fontoura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" y="5472684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5568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SEAC Gestão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55848" y="5472684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2736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Sendas Equipamentos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43016" y="5472684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9904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Rádio Tchê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8680" y="5760720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15568" y="568756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Vanessa M. P. Vargas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86800" y="3246120"/>
            <a:ext cx="2651760" cy="274320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qr_parcei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3547872"/>
            <a:ext cx="1664208" cy="166420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96528" y="5349240"/>
            <a:ext cx="24323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61E33"/>
                </a:solidFill>
                <a:latin typeface="Arial"/>
              </a:rPr>
              <a:t>Aponte a câmera para ver todos os parceiros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96528" y="587044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D8DF7"/>
                </a:solidFill>
                <a:latin typeface="Arial"/>
              </a:rPr>
              <a:t>bia-unipampa.github.io/#parceiros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APLICAÇÃO COM RETORNO IMEDIATO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Onde a IA já vira valor.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267004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Agronegócio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Pecuária e lavoura de precisão, com sensores, visão computacional e algoritmos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2670048"/>
            <a:ext cx="237744" cy="237744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Saúde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Apoio ao diagnóstico e à gestão do 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2670048"/>
            <a:ext cx="237744" cy="237744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Educação Fundamental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Tutoria personalizada e apoio a professores na escola pública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4590288"/>
            <a:ext cx="237744" cy="237744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Tecnologia e inovação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Startups e empresas no ecossistema do PampaTec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37760" y="459028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Cibersegurança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Detecção de ameaças e proteção de dados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41080" y="4590288"/>
            <a:ext cx="237744" cy="237744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Gestão pública por dados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Políticas e decisões orientadas por evidência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CASO CONCRETO  ·  PROGRAMA CENTELHA 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2F5FC"/>
                </a:solidFill>
                <a:latin typeface="Arial"/>
              </a:rPr>
              <a:t>ZapRaf: IA que inclui a agricultura familiar.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9728" cy="1691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38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B02E"/>
                </a:solidFill>
                <a:latin typeface="Arial"/>
              </a:rPr>
              <a:t>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A lei (INC 02/2018) exige rastreabilidade. Os softwares são caros e complexos, excluem o pequeno produtor e o fazem arriscar o acesso ao mercado da merenda escolar (PNAE).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1188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36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109728" cy="1691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67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6CF66"/>
                </a:solidFill>
                <a:latin typeface="Arial"/>
              </a:rPr>
              <a:t>A solução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06240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Um assistente de IA no WhatsApp que valida os dados e gera o QR code de rastreabilidade. Curva de aprendizado zero: tão simples quanto mandar um zap.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7830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0116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B02E"/>
                </a:solidFill>
                <a:latin typeface="Arial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7157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dos alimentos do Brasil vêm da agricultura familiar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7830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0116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4D8DF7"/>
                </a:solidFill>
                <a:latin typeface="Arial"/>
              </a:rPr>
              <a:t>68%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7157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dos municípios têm nela o motor da economia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6118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8404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6CF66"/>
                </a:solidFill>
                <a:latin typeface="Arial"/>
              </a:rPr>
              <a:t>R$ 1,6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5445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do PNAE destinados à agricultura familiar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36118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38404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8B6CFF"/>
                </a:solidFill>
                <a:latin typeface="Arial"/>
              </a:rPr>
              <a:t>40 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45445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de estudantes alimentados por 40 mil agricultores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864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48640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Selecionado no Programa Centelha 3/RS (Fase 2)  ·  software e marca registrados no INPI  ·  pesquisas FAPERGS, RNP e RedClara  ·  nascido no ecossistema do BIA e do AI Horizon Labs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0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RETORNO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 retorno pode ser muitas vezes o investimento.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Custo de implantação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R$ 23 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560320"/>
            <a:ext cx="7955279" cy="10515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56032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B02E"/>
                </a:solidFill>
                <a:latin typeface="Arial"/>
              </a:rPr>
              <a:t>R$ 29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560320"/>
            <a:ext cx="5257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Uma única startup de base tecnológica (caso real) já supera, sozinha, todo o investimento.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Projeção conservadora em 10 anos, e este é apenas o piso.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89120"/>
            <a:ext cx="10424160" cy="1097280"/>
          </a:xfrm>
          <a:prstGeom prst="roundRect">
            <a:avLst>
              <a:gd name="adj" fmla="val 6000"/>
            </a:avLst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A0E1A"/>
                </a:solidFill>
                <a:latin typeface="Arial"/>
              </a:rPr>
              <a:t>R$ 120 a 180 milhões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6CF66"/>
                </a:solidFill>
                <a:latin typeface="Arial"/>
              </a:rPr>
              <a:t>Com cada nova startup, patente e edital, o teto é aberto.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IMPACTO PROJETADO  ·  2026 A 2036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 que R$ 23 milhões constroem em uma década.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2606040"/>
            <a:ext cx="457200" cy="73152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4D8DF7"/>
                </a:solidFill>
                <a:latin typeface="Arial"/>
              </a:rPr>
              <a:t>400+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empregos qualificados, diretos e indiretos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606040"/>
            <a:ext cx="457200" cy="73152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15 a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startups e spin-offs de base tecnológica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2606040"/>
            <a:ext cx="457200" cy="73152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36CF66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de empregabilidade dos egressos em 12 meses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4590288"/>
            <a:ext cx="457200" cy="73152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8B6CFF"/>
                </a:solidFill>
                <a:latin typeface="Arial"/>
              </a:rPr>
              <a:t>R$ 40 a 70 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 aportes privados (John Deere, Bayer, SLC, CNH)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4590288"/>
            <a:ext cx="457200" cy="73152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10 + 30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patentes e softwares com aplicação produtiva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95360" y="4590288"/>
            <a:ext cx="457200" cy="73152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4D8DF7"/>
                </a:solidFill>
                <a:latin typeface="Arial"/>
              </a:rPr>
              <a:t>R$ 15 a 30 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 captação de editais de P&amp;D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A VISÃO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F5FC"/>
                </a:solidFill>
                <a:latin typeface="Arial"/>
              </a:rPr>
              <a:t>O Vale da Inteligência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B02E"/>
                </a:solidFill>
                <a:latin typeface="Arial"/>
              </a:rPr>
              <a:t>Artificial do Pampa.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AA6BC"/>
                </a:solidFill>
                <a:latin typeface="Arial"/>
              </a:rPr>
              <a:t>Um novo ecossistema de inovação no interior: parque tecnológico ativo, startups, laboratórios corporativos e atração de investimento.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Mais que empregos: uma nova identidade econômica para o interior do Rio Grande do Sul e do Brasil.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CF66"/>
                </a:solidFill>
                <a:latin typeface="Arial"/>
              </a:rPr>
              <a:t>Inserção em redes globais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48456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611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FAO Innovation 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123944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08736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CGIAR  ·  AI for Agriculture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599432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56285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NVIDIA  ·  Google Cloud for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5074920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503834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Embrapa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5550407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51383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Laboratórios John Deere e Bayer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ALCANCE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Começa na UNIPAMPA. Chega ao Brasil inteiro.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9728" cy="173736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Especialização em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7296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Demanda reprimida no país. 86% dos pesquisados querem cursar.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109728" cy="173736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Mestrado em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7296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Acadêmico ou profissional. Cerca de 68% de interesse declarado.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70248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70248"/>
            <a:ext cx="109728" cy="173736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44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114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Escola Nacional de IA: pública, gratuita e híbrida. Lema: IA para todos, de todos os cantos do Brasil.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70248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270248"/>
            <a:ext cx="109728" cy="173736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44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ERAMIA-RS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114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Escola Regional de Aprendizado de Máquina e IA, aproximando pesquisa, indústria e comunidade.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PERGUNTA DECISIVA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Por que isto rende mais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que uma grande obra?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2F5FC"/>
                </a:solidFill>
                <a:latin typeface="Arial"/>
              </a:rPr>
              <a:t>Uma obra tradicional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A6BC"/>
                </a:solidFill>
                <a:latin typeface="Arial"/>
              </a:rPr>
              <a:t>Essencial, porém deprecia.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148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Uma rodovia, uma ponte ou um prédio servem a um fluxo fixo, num só lugar, e perdem valor com o tempo. Exigem manutenção constante.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B02E"/>
                </a:solidFill>
                <a:latin typeface="Arial"/>
              </a:rPr>
              <a:t>Um polo de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CF66"/>
                </a:solidFill>
                <a:latin typeface="Arial"/>
              </a:rPr>
              <a:t>Um ativo que se valoriza e se multiplica.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1148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Forma pessoas, empresas e patentes, e potencializa todas as outras obras: o agro, a saúde, a educação e a própria gestão pública.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6CF66"/>
                </a:solidFill>
                <a:latin typeface="Arial"/>
              </a:rPr>
              <a:t>A IA é a infraestrutura que multiplica todas as outras.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4D8DF7"/>
                </a:solidFill>
                <a:latin typeface="Arial"/>
              </a:rPr>
              <a:t>POLÍTICA PÚBLICA EM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Apoiar o BIA é executar a agenda nacional de 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587752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Brasileiro de IA 2025 (IA para o Bem de Todos)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86000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20840" y="2587752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28600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Nacional de C, T e I 2030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36976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353872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23697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Estratégia Brasileira de IA (EBIA)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236976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40" y="353872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23697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Estratégia de Transformação Digital (E-Digital)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87952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8720" y="4489704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187952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de Neoindustrialização 2024 a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187952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4489704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187952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COP30: IA listada como objetivo-chave (item 27)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389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88720" y="5440680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5138928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Universidades Inovadoras SESU / MEC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1389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20840" y="5440680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5138928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Eixos: agro, SUS, indústria farmacêutica, engenharias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0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PEDIDO A VOSSA EXCELÊNCIA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5FC"/>
                </a:solidFill>
                <a:latin typeface="Arial"/>
              </a:rPr>
              <a:t>O que falta para destravar o BIA.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B02E"/>
                </a:solidFill>
                <a:latin typeface="Arial"/>
              </a:rPr>
              <a:t>R$ 23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infraestrutura, GPUs H100 e RTX 4090, e acervo técnico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4D8DF7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docentes doutores em áreas centrais de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36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36CF66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técnicos administrativos (2 laboratoristas)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14800"/>
            <a:ext cx="10515600" cy="19202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36CF66"/>
                </a:solidFill>
                <a:latin typeface="Arial"/>
              </a:rPr>
              <a:t>Buscamos ativamente parcerias e editais para a infraestrutura mínima de IA. Onde a sua atuação destrava: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Emenda parlamentar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Articulação com MEC e MCTI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Editais FINEP e FNDCT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Parcerias com a indústria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FAPERGS e fomento estadual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Cooperação internacional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91056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82296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54480"/>
            <a:ext cx="10789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2F5FC"/>
                </a:solidFill>
                <a:latin typeface="Arial"/>
              </a:rPr>
              <a:t>O futuro da IA no Brasil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B02E"/>
                </a:solidFill>
                <a:latin typeface="Arial"/>
              </a:rPr>
              <a:t>pode começar pela sua assinatura.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BC"/>
                </a:solidFill>
                <a:latin typeface="Arial"/>
              </a:rPr>
              <a:t>A janela é agora. A região está pronta, a ciência já existe, o projeto está protocolado. Falta a decisão política que transforma potencial em realidade.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5FC"/>
                </a:solidFill>
                <a:latin typeface="Arial"/>
              </a:rPr>
              <a:t>Grupo Proponente do BIA  ·  UNIPAMPA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bia@unipampa.edu.br  ·  WhatsApp +55 55 99704 7891  ·  bia-unipampa.github.io  ·  ai-horizon-labs.github.io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