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Abertura. Cumprimente e situe: este é o BIA, o primeiro bacharelado do Brasil 100% dedicado à Inteligência Artificial, na UNIPAMPA. Diga que, em cerca de 15 minutos, vai mostrar por que este projeto pode ser o maior legado tecnológico que o senhor deixa para o estado e para o país.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Crie o enquadramento grande. A IA é a nova eletricidade: vai redefinir todos os setores. Países e regiões se dividirão entre os que dominam a tecnologia e os que apenas a consomem. Esse é o jogo do século.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o tamanho do prêmio. Até R$ 2 trilhões de potencial na economia brasileira até 2030 (BID). Déficit de 800 mil profissionais (Brasscom). Salários de R$ 9 a 12 mil. Esse valor vai para alguma região: a pergunta é se o interior assiste ou lidera.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Justifique o lugar e o alcance. O interior é laboratório natural de IA aplicada (agro, logística, energia). A UNIPAMPA já recebe estudantes de todas as regiões do país e de outros estados, então o BIA nasce com alcance nacional. Formar IA aqui fixa talento, descentraliza o desenvolvimento e protege o bioma Pampa. O Brasil que queremos começa pelo interior.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Diferencial central. Não é mais um curso de computação: é o único 100% IA do país (os demais ficam em torno de 50%). 8 semestres, 3.210 horas, 6 eixos, metodologia ABP do primeiro ao último semestre. Formação profunda e aplicada.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Prova de capacidade. Já fazemos ciência de classe mundial: o conjunto de dados MH-1M, com 1,34 milhão de amostras e 22.810 atributos, publicado na Nature Scientific Data em 2025. E o AI Horizon Labs, nosso motor de pesquisa, com financiamento FAPERGS, vínculo com a pós-graduação (PPGES) e mais de 5 parcerias. Esse grupo é a base e o veículo de captação de recursos do BIA.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Ponto crítico e ponte para o pedido. Temos os dados e os cérebros. Falta a máquina. 400 GB e 1,34 milhão de amostras não se treinam em computador comum: sem GPUs H100, esses dados de ponta ficam parados. É exatamente esse gargalo que buscamos destravar com apoio, parcerias e editais.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tração real para reduzir a percepção de risco. Protocolo no MEC, concurso público já lançado para 4 vagas de docentes, PPC completo de 236 páginas, site no ar. Não é ideia: é execução em andamento. Falta o recurso de implantação.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Prova de demanda e apoio. 357 respostas em pesquisas, 86% de importância máxima, 80% creem em impacto. Mais de 20 municípios parceiros, mais de 20 cartas de apoio, 12 bolsas sociais de prefeituras parceiras, apoio unânime dos prefeitos da AMFRO. A base política regional já está construída.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Parceiros confirmados. Mostre que o apoio é concreto e com compromisso firmado: o PampaTec (parque tecnológico) e a Prefeitura são parceiros estratégicos com contrapartida, além de mais de 25 instituições apoiadoras, de associações de municípios e do SEBRAE a cooperativas e empresas de tecnologia. Convide o deputado a apontar a câmera para o QR code e ver a lista completa no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Aterrisse no concreto, na ordem de prioridade: agronegócio, saúde, educação fundamental e tecnologia e inovação (ligada ao PampaTec), além de cibersegurança e gestão pública por dados. IA que já vira valor no dia a dia das pessoas.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Caso concreto de IA com impacto social. Apresente o ZapRaf, projeto selecionado no Programa Centelha 3/RS: um assistente de IA no WhatsApp que dá rastreabilidade ao pequeno produtor e garante o acesso ao mercado da merenda escolar (PNAE), cumprindo a INC 02/2018. A agricultura familiar produz 70% dos alimentos do país e está em 68% dos municípios. O projeto já tem software e marca registrados no INPI e nasce do mesmo ecossistema do BIA. É a prova viva de que o BIA gera projetos que captam recursos e transformam vidas.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argumento financeiro, e seja ambicioso. O custo de implantação é R$ 23 milhões. Uma única startup de base tecnológica, em caso real, já vale R$ 29 milhões: sozinha, supera todo o investimento. A projeção conservadora é de R$ 120 a 180 milhões em dez anos, e isso é apenas o piso. Com cada nova startup, patente e edital, o teto é aberto.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Detalhe o retorno. Mais de 400 empregos, 15 a 20 startups, 100% de empregabilidade em 12 meses, R$ 40 a 70 milhões em aportes privados de gigantes do agro, patentes e softwares, R$ 15 a 30 milhões em editais de P&amp;D.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Pinte a visão de longo prazo. O Vale da IA do Pampa: novo ecossistema e nova identidade econômica para o interior do Rio Grande do Sul e do Brasil, com inserção em redes globais (FAO, CGIAR, NVIDIA, Google Research, Embrapa, laboratórios John Deere e Bayer).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que o alcance ultrapassa a região. Especialização (alta demanda), mestrado, a ENIA (Escola Nacional de IA, pública e gratuita, IA para todos) e a ERAMIA-RS. Começa na UNIPAMPA e chega ao Brasil inteiro.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Clímax do pitch. Por que isto rende mais que uma grande obra? Uma obra tradicional (rodovia, ponte, prédio) é essencial, porém deprecia: serve a um fluxo fixo, num só lugar, e perde valor com o tempo. Um polo de IA é um ativo que se valoriza e se multiplica: forma pessoas, empresas e patentes e potencializa todas as outras obras, do agro à saúde, da educação à gestão pública. A IA é a infraestrutura que multiplica todas as outras.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Reduza o risco político. Apoiar o BIA é executar a agenda nacional já existente: PBIA 2025, PNCTI 2030, EBIA, E-Digital, Neoindustrialização, COP30 (item 27), Universidades Inovadoras. O senhor entra alinhado com o Estado brasileiro.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pedido, claro e direto. R$ 23 milhões (infraestrutura, GPUs H100 e RTX 4090, acervo), 15 docentes doutores e 3 técnicos. E mostre os caminhos concretos de atuação: emenda parlamentar, articulação com MEC e MCTI, editais FINEP e FNDCT, parcerias com a indústria, FAPERGS, cooperação internacional. Buscamos ativamente parcerias e editais para a infraestrutura mínima de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Fechamento emocional. A janela é agora: a base está pronta, a ciência já existe, o projeto está protocolado. Falta a decisão política. Convide o deputado a ser lembrado como quem trouxe o futuro da IA para o interior do Brasil. Deixe os contatos e ofereça uma visita à UNIPAMPA e ao AI Horizon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8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713232"/>
            <a:ext cx="182880" cy="182880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07008" y="713232"/>
            <a:ext cx="182880" cy="182880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91056" y="713232"/>
            <a:ext cx="182880" cy="182880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75104" y="713232"/>
            <a:ext cx="182880" cy="182880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120">
                <a:solidFill>
                  <a:srgbClr val="9AA6BC"/>
                </a:solidFill>
                <a:latin typeface="Arial"/>
              </a:rPr>
              <a:t>UNIVERSIDADE FEDERAL DO PAMPA  ·  RIO GRANDE DO SUL  ·  BRASIL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01168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0" b="1" i="0">
                <a:solidFill>
                  <a:srgbClr val="F2F5FC"/>
                </a:solidFill>
                <a:latin typeface="Arial"/>
              </a:rPr>
              <a:t>BIA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11880"/>
            <a:ext cx="8595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B02E"/>
                </a:solidFill>
                <a:latin typeface="Arial"/>
              </a:rPr>
              <a:t>Bacharelado em Inteligência Artificial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26280"/>
            <a:ext cx="8595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F2F5FC"/>
                </a:solidFill>
                <a:latin typeface="Arial"/>
              </a:rPr>
              <a:t>O primeiro curso de graduação do Brasil com 100% da matriz dedicada à Inteligência Artificial.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43600"/>
            <a:ext cx="8595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AA6BC"/>
                </a:solidFill>
                <a:latin typeface="Arial"/>
              </a:rPr>
              <a:t>Proposta de implantação  ·  Protocolo MEC NUP 23000.037497/2025-83  ·  bia@unipampa.edu.br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8048" y="3840480"/>
            <a:ext cx="18836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 spc="100">
                <a:solidFill>
                  <a:srgbClr val="9AA6BC"/>
                </a:solidFill>
                <a:latin typeface="Arial"/>
              </a:rPr>
              <a:t>ACESSE O SITE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28048" y="4114800"/>
            <a:ext cx="1883664" cy="1993392"/>
          </a:xfrm>
          <a:prstGeom prst="roundRect">
            <a:avLst>
              <a:gd name="adj" fmla="val 6000"/>
            </a:avLst>
          </a:prstGeom>
          <a:solidFill>
            <a:srgbClr val="F2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qr_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1512" y="4334256"/>
            <a:ext cx="1298448" cy="12984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555480" y="574243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161E33"/>
                </a:solidFill>
                <a:latin typeface="Arial"/>
              </a:rPr>
              <a:t>bia-unipampa.github.io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610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86384"/>
            <a:ext cx="310896" cy="64008"/>
          </a:xfrm>
          <a:prstGeom prst="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65836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8B6CFF"/>
                </a:solidFill>
                <a:latin typeface="Arial"/>
              </a:rPr>
              <a:t>O PONTO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554480"/>
            <a:ext cx="106984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F2F5FC"/>
                </a:solidFill>
                <a:latin typeface="Arial"/>
              </a:rPr>
              <a:t>A IA é a nova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FFB02E"/>
                </a:solidFill>
                <a:latin typeface="Arial"/>
              </a:rPr>
              <a:t>eletricidade.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424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9AA6BC"/>
                </a:solidFill>
                <a:latin typeface="Arial"/>
              </a:rPr>
              <a:t>Como a eletricidade no século XX, a Inteligência Artificial vai redefinir todos os setores: o agro, a saúde, a indústria, a segurança e o Estado.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48640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F2F5FC"/>
                </a:solidFill>
                <a:latin typeface="Arial"/>
              </a:rPr>
              <a:t>A pergunta não é </a:t>
            </a:r>
            <a:r>
              <a:rPr sz="2000" b="1" i="1">
                <a:solidFill>
                  <a:srgbClr val="36CF66"/>
                </a:solidFill>
                <a:latin typeface="Arial"/>
              </a:rPr>
              <a:t>se</a:t>
            </a:r>
            <a:r>
              <a:rPr sz="2000" b="0" i="0">
                <a:solidFill>
                  <a:srgbClr val="F2F5FC"/>
                </a:solidFill>
                <a:latin typeface="Arial"/>
              </a:rPr>
              <a:t> isso vai acontecer. É </a:t>
            </a:r>
            <a:r>
              <a:rPr sz="2000" b="1" i="0">
                <a:solidFill>
                  <a:srgbClr val="FFB02E"/>
                </a:solidFill>
                <a:latin typeface="Arial"/>
              </a:rPr>
              <a:t>quem</a:t>
            </a:r>
            <a:r>
              <a:rPr sz="2000" b="0" i="0">
                <a:solidFill>
                  <a:srgbClr val="F2F5FC"/>
                </a:solidFill>
                <a:latin typeface="Arial"/>
              </a:rPr>
              <a:t> vai dominar a tecnologia, e quem vai apenas consumi-la.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02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8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FFB02E"/>
                </a:solidFill>
                <a:latin typeface="Arial"/>
              </a:rPr>
              <a:t>O TAMANHO DA OPORTUNIDADE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2F5FC"/>
                </a:solidFill>
                <a:latin typeface="Arial"/>
              </a:rPr>
              <a:t>A corrida já começou. E vale trilhões.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419856" cy="2834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86000"/>
            <a:ext cx="109728" cy="2834640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697480"/>
            <a:ext cx="2779776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B02E"/>
                </a:solidFill>
                <a:latin typeface="Arial"/>
              </a:rPr>
              <a:t>R$ 2 tri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749039"/>
            <a:ext cx="26883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F2F5FC"/>
                </a:solidFill>
                <a:latin typeface="Arial"/>
              </a:rPr>
              <a:t>potencial de acréscimo à economia brasileira até 2030 com 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681728"/>
            <a:ext cx="2779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80">
                <a:solidFill>
                  <a:srgbClr val="66728A"/>
                </a:solidFill>
                <a:latin typeface="Arial"/>
              </a:rPr>
              <a:t>FONTE: BID, 2023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286000"/>
            <a:ext cx="3419856" cy="2834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2286000"/>
            <a:ext cx="109728" cy="2834640"/>
          </a:xfrm>
          <a:prstGeom prst="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2697480"/>
            <a:ext cx="2779776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4D8DF7"/>
                </a:solidFill>
                <a:latin typeface="Arial"/>
              </a:rPr>
              <a:t>800 mil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749039"/>
            <a:ext cx="26883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F2F5FC"/>
                </a:solidFill>
                <a:latin typeface="Arial"/>
              </a:rPr>
              <a:t>déficit de profissionais de tecnologia no Brasil até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4681728"/>
            <a:ext cx="2779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80">
                <a:solidFill>
                  <a:srgbClr val="66728A"/>
                </a:solidFill>
                <a:latin typeface="Arial"/>
              </a:rPr>
              <a:t>FONTE: BRASSCOM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286000"/>
            <a:ext cx="3419856" cy="2834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2286000"/>
            <a:ext cx="109728" cy="2834640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2697480"/>
            <a:ext cx="2779776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36CF66"/>
                </a:solidFill>
                <a:latin typeface="Arial"/>
              </a:rPr>
              <a:t>R$ 9 a 12 mil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749039"/>
            <a:ext cx="26883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F2F5FC"/>
                </a:solidFill>
                <a:latin typeface="Arial"/>
              </a:rPr>
              <a:t>salário inicial de um profissional de IA no país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4681728"/>
            <a:ext cx="2779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80">
                <a:solidFill>
                  <a:srgbClr val="66728A"/>
                </a:solidFill>
                <a:latin typeface="Arial"/>
              </a:rPr>
              <a:t>FONTE: DEMANDA REPRIMIDA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532120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9AA6BC"/>
                </a:solidFill>
                <a:latin typeface="Arial"/>
              </a:rPr>
              <a:t>Esse valor vai para alguma região. A questão é: </a:t>
            </a:r>
            <a:r>
              <a:rPr sz="1900" b="1" i="0">
                <a:solidFill>
                  <a:srgbClr val="FFB02E"/>
                </a:solidFill>
                <a:latin typeface="Arial"/>
              </a:rPr>
              <a:t>o interior vai assistir ou vai liderar?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03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0A1A14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36CF66"/>
                </a:solidFill>
                <a:latin typeface="Arial"/>
              </a:rPr>
              <a:t>POR QUE A UNIPAMPA, POR QUE AGORA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2F5FC"/>
                </a:solidFill>
                <a:latin typeface="Arial"/>
              </a:rPr>
              <a:t>O Brasil que queremos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36CF66"/>
                </a:solidFill>
                <a:latin typeface="Arial"/>
              </a:rPr>
              <a:t>começa pelo interior.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80360"/>
            <a:ext cx="82296" cy="1234440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834640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2F5FC"/>
                </a:solidFill>
                <a:latin typeface="Arial"/>
              </a:rPr>
              <a:t>Laboratório natural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291840"/>
            <a:ext cx="4892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9AA6BC"/>
                </a:solidFill>
                <a:latin typeface="Arial"/>
              </a:rPr>
              <a:t>O interior é potência em agro, logística e energia: o cenário ideal para IA aplicada com retorno real e imediato.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2880360"/>
            <a:ext cx="82296" cy="1234440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834640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2F5FC"/>
                </a:solidFill>
                <a:latin typeface="Arial"/>
              </a:rPr>
              <a:t>Talento de todo o Brasil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291840"/>
            <a:ext cx="4892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9AA6BC"/>
                </a:solidFill>
                <a:latin typeface="Arial"/>
              </a:rPr>
              <a:t>A UNIPAMPA já recebe estudantes de todas as regiões do país e de outros estados. O BIA nasce com alcance nacional.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526280"/>
            <a:ext cx="82296" cy="1234440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480560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2F5FC"/>
                </a:solidFill>
                <a:latin typeface="Arial"/>
              </a:rPr>
              <a:t>Descentralizar o futuro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937760"/>
            <a:ext cx="4892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9AA6BC"/>
                </a:solidFill>
                <a:latin typeface="Arial"/>
              </a:rPr>
              <a:t>A inovação de ponta não pode se concentrar só nas capitais. O desenvolvimento equilibrado combate a desigualdade territorial.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4526280"/>
            <a:ext cx="82296" cy="1234440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4480560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2F5FC"/>
                </a:solidFill>
                <a:latin typeface="Arial"/>
              </a:rPr>
              <a:t>Bioma único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937760"/>
            <a:ext cx="4892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9AA6BC"/>
                </a:solidFill>
                <a:latin typeface="Arial"/>
              </a:rPr>
              <a:t>O Pampa, um dos biomas mais ameaçados do país, ganha tecnologia de vanguarda para preservação e transição climática justa.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04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8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FFB02E"/>
                </a:solidFill>
                <a:latin typeface="Arial"/>
              </a:rPr>
              <a:t>A PROPOSTA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Não é mais um curso de computação. É o primeiro 100% 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9AA6BC"/>
                </a:solidFill>
                <a:latin typeface="Arial"/>
              </a:rPr>
              <a:t>Percentual da matriz dedicado à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86584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2F5FC"/>
                </a:solidFill>
                <a:latin typeface="Arial"/>
              </a:rPr>
              <a:t>BIA UNIPAMPA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97480"/>
            <a:ext cx="4937760" cy="640080"/>
          </a:xfrm>
          <a:prstGeom prst="roundRect">
            <a:avLst>
              <a:gd name="adj" fmla="val 50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697480"/>
            <a:ext cx="4937760" cy="640080"/>
          </a:xfrm>
          <a:prstGeom prst="roundRect">
            <a:avLst>
              <a:gd name="adj" fmla="val 50000"/>
            </a:avLst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97480"/>
            <a:ext cx="4754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A0E1A"/>
                </a:solidFill>
                <a:latin typeface="Arial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83864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2F5FC"/>
                </a:solidFill>
                <a:latin typeface="Arial"/>
              </a:rPr>
              <a:t>UFG / UFRN / UFSM / UFMS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794760"/>
            <a:ext cx="4937760" cy="640080"/>
          </a:xfrm>
          <a:prstGeom prst="roundRect">
            <a:avLst>
              <a:gd name="adj" fmla="val 50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3794760"/>
            <a:ext cx="2468880" cy="640080"/>
          </a:xfrm>
          <a:prstGeom prst="roundRect">
            <a:avLst>
              <a:gd name="adj" fmla="val 50000"/>
            </a:avLst>
          </a:prstGeom>
          <a:solidFill>
            <a:srgbClr val="667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794760"/>
            <a:ext cx="2286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2F5FC"/>
                </a:solidFill>
                <a:latin typeface="Arial"/>
              </a:rPr>
              <a:t>50%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029200"/>
            <a:ext cx="5029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9AA6BC"/>
                </a:solidFill>
                <a:latin typeface="Arial"/>
              </a:rPr>
              <a:t>Os demais cursos do país reaproveitam disciplinas genéricas de Ciência da Computação. O BIA foi concebido do zero, integralmente em IA moderna.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148840"/>
            <a:ext cx="5029200" cy="393192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2468880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B02E"/>
                </a:solidFill>
                <a:latin typeface="Arial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468880"/>
            <a:ext cx="2606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2F5FC"/>
                </a:solidFill>
                <a:latin typeface="Arial"/>
              </a:rPr>
              <a:t>semestres de formação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3291840"/>
            <a:ext cx="4114800" cy="10972"/>
          </a:xfrm>
          <a:prstGeom prst="rect">
            <a:avLst/>
          </a:prstGeom>
          <a:solidFill>
            <a:srgbClr val="1C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3355848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B02E"/>
                </a:solidFill>
                <a:latin typeface="Arial"/>
              </a:rPr>
              <a:t>3.210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355848"/>
            <a:ext cx="2606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2F5FC"/>
                </a:solidFill>
                <a:latin typeface="Arial"/>
              </a:rPr>
              <a:t>horas de curso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6560" y="4178808"/>
            <a:ext cx="4114800" cy="10972"/>
          </a:xfrm>
          <a:prstGeom prst="rect">
            <a:avLst/>
          </a:prstGeom>
          <a:solidFill>
            <a:srgbClr val="1C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4242816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B02E"/>
                </a:solidFill>
                <a:latin typeface="Arial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4242816"/>
            <a:ext cx="2606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2F5FC"/>
                </a:solidFill>
                <a:latin typeface="Arial"/>
              </a:rPr>
              <a:t>eixos estruturantes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5065776"/>
            <a:ext cx="4114800" cy="10972"/>
          </a:xfrm>
          <a:prstGeom prst="rect">
            <a:avLst/>
          </a:prstGeom>
          <a:solidFill>
            <a:srgbClr val="1C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5129784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B02E"/>
                </a:solidFill>
                <a:latin typeface="Arial"/>
              </a:rPr>
              <a:t>ABP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5129784"/>
            <a:ext cx="2606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2F5FC"/>
                </a:solidFill>
                <a:latin typeface="Arial"/>
              </a:rPr>
              <a:t>aprendizagem baseada em problemas, do 1º ao último semestre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05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4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8B6CFF"/>
                </a:solidFill>
                <a:latin typeface="Arial"/>
              </a:rPr>
              <a:t>NÃO PARTIMOS DO 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Já fazemos ciência de IA de classe mundial, aqui.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6400800" cy="3703320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 w="15875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43000" y="2468880"/>
            <a:ext cx="3863339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459736"/>
            <a:ext cx="386333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spc="120">
                <a:solidFill>
                  <a:srgbClr val="8B6CFF"/>
                </a:solidFill>
                <a:latin typeface="Arial"/>
              </a:rPr>
              <a:t>NATURE  ·  SCIENTIFIC DATA  · 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063240"/>
            <a:ext cx="58521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2F5FC"/>
                </a:solidFill>
                <a:latin typeface="Arial"/>
              </a:rPr>
              <a:t>MH-1M</a:t>
            </a:r>
            <a:r>
              <a:rPr sz="2000" b="0" i="0">
                <a:solidFill>
                  <a:srgbClr val="9AA6BC"/>
                </a:solidFill>
                <a:latin typeface="Arial"/>
              </a:rPr>
              <a:t> 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931920"/>
            <a:ext cx="585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AA6BC"/>
                </a:solidFill>
                <a:latin typeface="Arial"/>
              </a:rPr>
              <a:t>Um dos maiores conjuntos de dados de malware Android do mundo, publicado na Nature por pesquisadores da UNIPAMPA e da UFAM.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89204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B02E"/>
                </a:solidFill>
                <a:latin typeface="Arial"/>
              </a:rPr>
              <a:t>1,34 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534924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2F5FC"/>
                </a:solidFill>
                <a:latin typeface="Arial"/>
              </a:rPr>
              <a:t>amostras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489204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B02E"/>
                </a:solidFill>
                <a:latin typeface="Arial"/>
              </a:rPr>
              <a:t>22.810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534924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2F5FC"/>
                </a:solidFill>
                <a:latin typeface="Arial"/>
              </a:rPr>
              <a:t>atributos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489204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B02E"/>
                </a:solidFill>
                <a:latin typeface="Arial"/>
              </a:rPr>
              <a:t>400+ GB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534924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2F5FC"/>
                </a:solidFill>
                <a:latin typeface="Arial"/>
              </a:rPr>
              <a:t>de dados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2194560"/>
            <a:ext cx="3886200" cy="370332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52360" y="2194560"/>
            <a:ext cx="3886200" cy="109728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251460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F2F5FC"/>
                </a:solidFill>
                <a:latin typeface="Arial"/>
              </a:rPr>
              <a:t>AI Horizon Labs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06324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6CF66"/>
                </a:solidFill>
                <a:latin typeface="Arial"/>
              </a:rPr>
              <a:t>O motor de pesquisa do campus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657600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FB02E"/>
                </a:solidFill>
                <a:latin typeface="Arial"/>
              </a:rPr>
              <a:t>FAPERGS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9AA6BC"/>
                </a:solidFill>
                <a:latin typeface="Arial"/>
              </a:rPr>
              <a:t>financiamento de pesquisa aprovado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261104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FB02E"/>
                </a:solidFill>
                <a:latin typeface="Arial"/>
              </a:rPr>
              <a:t>Pós-graduação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9AA6BC"/>
                </a:solidFill>
                <a:latin typeface="Arial"/>
              </a:rPr>
              <a:t>vínculo com o PPGES (mestrado)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864608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FB02E"/>
                </a:solidFill>
                <a:latin typeface="Arial"/>
              </a:rPr>
              <a:t>5+ parcerias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9AA6BC"/>
                </a:solidFill>
                <a:latin typeface="Arial"/>
              </a:rPr>
              <a:t>já estabelecidas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5468112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FB02E"/>
                </a:solidFill>
                <a:latin typeface="Arial"/>
              </a:rPr>
              <a:t>ML  ·  PLN  ·  Eng. de Software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9AA6BC"/>
                </a:solidFill>
                <a:latin typeface="Arial"/>
              </a:rPr>
              <a:t>linhas de pesquisa ativas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06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A0E12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F0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F05A5A"/>
                </a:solidFill>
                <a:latin typeface="Arial"/>
              </a:rPr>
              <a:t>O PONTO CRÍTICO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88720"/>
            <a:ext cx="10789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2F5FC"/>
                </a:solidFill>
                <a:latin typeface="Arial"/>
              </a:rPr>
              <a:t>Temos os dados. Temos os cérebros.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B02E"/>
                </a:solidFill>
                <a:latin typeface="Arial"/>
              </a:rPr>
              <a:t>Falta a máquina.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6400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F2F5FC"/>
                </a:solidFill>
                <a:latin typeface="Arial"/>
              </a:rPr>
              <a:t>Um conjunto de 400 GB e 1,34 milhão de amostras não se treina em computador comum.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6400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9AA6BC"/>
                </a:solidFill>
                <a:latin typeface="Arial"/>
              </a:rPr>
              <a:t>Sem GPUs de alto desempenho, esses dados de ponta ficam parados. A produção científica existe, mas não se converte em modelos, produtos e patentes.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2606040"/>
            <a:ext cx="3840480" cy="278892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 w="15875">
            <a:solidFill>
              <a:srgbClr val="FFB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283464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B02E"/>
                </a:solidFill>
                <a:latin typeface="Arial"/>
              </a:rPr>
              <a:t>A infraestrutura mínima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3364992"/>
            <a:ext cx="1280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2F5FC"/>
                </a:solidFill>
                <a:latin typeface="Arial"/>
              </a:rPr>
              <a:t>10x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3364992"/>
            <a:ext cx="2194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BC"/>
                </a:solidFill>
                <a:latin typeface="Arial"/>
              </a:rPr>
              <a:t>GPUs NVIDIA H100 (servidores)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4023360"/>
            <a:ext cx="1280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2F5FC"/>
                </a:solidFill>
                <a:latin typeface="Arial"/>
              </a:rPr>
              <a:t>50x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4023360"/>
            <a:ext cx="2194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BC"/>
                </a:solidFill>
                <a:latin typeface="Arial"/>
              </a:rPr>
              <a:t>estações com RTX 4090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4681728"/>
            <a:ext cx="1280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2F5FC"/>
                </a:solidFill>
                <a:latin typeface="Arial"/>
              </a:rPr>
              <a:t>LLMs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4681728"/>
            <a:ext cx="2194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BC"/>
                </a:solidFill>
                <a:latin typeface="Arial"/>
              </a:rPr>
              <a:t>treino e ajuste fino de modelos de 7B a 70B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7150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36CF66"/>
                </a:solidFill>
                <a:latin typeface="Arial"/>
              </a:rPr>
              <a:t>Esse é exatamente o gargalo que buscamos destravar com apoio, parcerias e editais.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07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8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36CF66"/>
                </a:solidFill>
                <a:latin typeface="Arial"/>
              </a:rPr>
              <a:t>TRAÇÃO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Isto não é uma ideia no papel. Já está acontecendo.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31720"/>
            <a:ext cx="5257800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31720"/>
            <a:ext cx="109728" cy="1691640"/>
          </a:xfrm>
          <a:prstGeom prst="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606039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2F5FC"/>
                </a:solidFill>
                <a:latin typeface="Arial"/>
              </a:rPr>
              <a:t>Protocolo no MEC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20040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AA6BC"/>
                </a:solidFill>
                <a:latin typeface="Arial"/>
              </a:rPr>
              <a:t>Demanda do curso e dos recursos registrada oficialmente. NUP 23000.037497/2025-83.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331720"/>
            <a:ext cx="5257800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331720"/>
            <a:ext cx="109728" cy="1691640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2606039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2F5FC"/>
                </a:solidFill>
                <a:latin typeface="Arial"/>
              </a:rPr>
              <a:t>Concurso já lançado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20040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AA6BC"/>
                </a:solidFill>
                <a:latin typeface="Arial"/>
              </a:rPr>
              <a:t>Concurso público aberto para 4 vagas de docentes do novo bacharelado.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251960"/>
            <a:ext cx="5257800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251960"/>
            <a:ext cx="109728" cy="1691640"/>
          </a:xfrm>
          <a:prstGeom prst="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526280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2F5FC"/>
                </a:solidFill>
                <a:latin typeface="Arial"/>
              </a:rPr>
              <a:t>PPC pronto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512064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AA6BC"/>
                </a:solidFill>
                <a:latin typeface="Arial"/>
              </a:rPr>
              <a:t>Projeto Pedagógico completo: 236 páginas, com matriz curricular moderna e validada.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4251960"/>
            <a:ext cx="5257800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4251960"/>
            <a:ext cx="109728" cy="1691640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4526280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2F5FC"/>
                </a:solidFill>
                <a:latin typeface="Arial"/>
              </a:rPr>
              <a:t>Presença pública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512064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AA6BC"/>
                </a:solidFill>
                <a:latin typeface="Arial"/>
              </a:rPr>
              <a:t>Site oficial, identidade visual e comunicação ativa do curso já no ar.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08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0A1A14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36CF66"/>
                </a:solidFill>
                <a:latin typeface="Arial"/>
              </a:rPr>
              <a:t>APOIO SOCIAL E INSTITUCIONAL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A região já disse sim. Em números e em cartas.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419856" cy="182880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560320"/>
            <a:ext cx="277977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000" b="1" i="0">
                <a:solidFill>
                  <a:srgbClr val="4D8DF7"/>
                </a:solidFill>
                <a:latin typeface="Arial"/>
              </a:rPr>
              <a:t>357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520440"/>
            <a:ext cx="26883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2F5FC"/>
                </a:solidFill>
                <a:latin typeface="Arial"/>
              </a:rPr>
              <a:t>respostas em pesquisas de interesse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286000"/>
            <a:ext cx="3419856" cy="182880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2560320"/>
            <a:ext cx="277977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000" b="1" i="0">
                <a:solidFill>
                  <a:srgbClr val="FFB02E"/>
                </a:solidFill>
                <a:latin typeface="Arial"/>
              </a:rPr>
              <a:t>86%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3520440"/>
            <a:ext cx="26883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2F5FC"/>
                </a:solidFill>
                <a:latin typeface="Arial"/>
              </a:rPr>
              <a:t>consideram o curso da máxima importância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286000"/>
            <a:ext cx="3419856" cy="182880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1080" y="2560320"/>
            <a:ext cx="277977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000" b="1" i="0">
                <a:solidFill>
                  <a:srgbClr val="36CF66"/>
                </a:solidFill>
                <a:latin typeface="Arial"/>
              </a:rPr>
              <a:t>80%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3520440"/>
            <a:ext cx="26883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2F5FC"/>
                </a:solidFill>
                <a:latin typeface="Arial"/>
              </a:rPr>
              <a:t>creem em impacto positivo na região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343400"/>
            <a:ext cx="10515600" cy="1691640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617720"/>
            <a:ext cx="1371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B02E"/>
                </a:solidFill>
                <a:latin typeface="Arial"/>
              </a:rPr>
              <a:t>+20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25780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2F5FC"/>
                </a:solidFill>
                <a:latin typeface="Arial"/>
              </a:rPr>
              <a:t>municípios parceiros no Rio Grande do Sul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617720"/>
            <a:ext cx="1371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B02E"/>
                </a:solidFill>
                <a:latin typeface="Arial"/>
              </a:rPr>
              <a:t>+20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525780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2F5FC"/>
                </a:solidFill>
                <a:latin typeface="Arial"/>
              </a:rPr>
              <a:t>cartas oficiais de apoio de empresas e entidades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617720"/>
            <a:ext cx="1371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B02E"/>
                </a:solidFill>
                <a:latin typeface="Arial"/>
              </a:rPr>
              <a:t>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525780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2F5FC"/>
                </a:solidFill>
                <a:latin typeface="Arial"/>
              </a:rPr>
              <a:t>bolsas sociais anuais (prefeituras parceiras)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4617720"/>
            <a:ext cx="1371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B02E"/>
                </a:solidFill>
                <a:latin typeface="Arial"/>
              </a:rP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525780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2F5FC"/>
                </a:solidFill>
                <a:latin typeface="Arial"/>
              </a:rPr>
              <a:t>dos prefeitos da AMFRO apoiam a proposta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0533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spc="40">
                <a:solidFill>
                  <a:srgbClr val="66728A"/>
                </a:solidFill>
                <a:latin typeface="Arial"/>
              </a:rPr>
              <a:t>AMFRO  ·  ULFRO  ·  CODEPAMPA  ·  PampaTec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09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8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8B6CFF"/>
                </a:solidFill>
                <a:latin typeface="Arial"/>
              </a:rPr>
              <a:t>QUEM JÁ APOIA O BIA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09728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F2F5FC"/>
                </a:solidFill>
                <a:latin typeface="Arial"/>
              </a:rPr>
              <a:t>Parceiros confirmados, com compromisso firmado.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5120640" cy="1078992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 w="12700">
            <a:solidFill>
              <a:srgbClr val="FFB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901952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2F5FC"/>
                </a:solidFill>
                <a:latin typeface="Arial"/>
              </a:rPr>
              <a:t>PampaTec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304288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AA6BC"/>
                </a:solidFill>
                <a:latin typeface="Arial"/>
              </a:rPr>
              <a:t>Parque Científico e Tecnológico do Pampa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59689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spc="40">
                <a:solidFill>
                  <a:srgbClr val="FFB02E"/>
                </a:solidFill>
                <a:latin typeface="Arial"/>
              </a:rPr>
              <a:t>Parceiro estratégico  ·  com contrapartida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5120640" cy="1078992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 w="12700">
            <a:solidFill>
              <a:srgbClr val="FFB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901952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2F5FC"/>
                </a:solidFill>
                <a:latin typeface="Arial"/>
              </a:rPr>
              <a:t>Prefeitura de Alegrete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304288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AA6BC"/>
                </a:solidFill>
                <a:latin typeface="Arial"/>
              </a:rPr>
              <a:t>Apoio e contrapartida firmados ao curso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59689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spc="40">
                <a:solidFill>
                  <a:srgbClr val="FFB02E"/>
                </a:solidFill>
                <a:latin typeface="Arial"/>
              </a:rPr>
              <a:t>Parceiro estratégico  ·  com contrapartida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999232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6CF66"/>
                </a:solidFill>
                <a:latin typeface="Arial"/>
              </a:rPr>
              <a:t>Mais de 25 instituições apoiadoras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456432"/>
            <a:ext cx="109728" cy="109728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3383280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AMFRO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55848" y="3456432"/>
            <a:ext cx="109728" cy="109728"/>
          </a:xfrm>
          <a:prstGeom prst="round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2736" y="3383280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ULFRO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43016" y="3456432"/>
            <a:ext cx="109728" cy="109728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9904" y="3383280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COREDE Fronteira Oeste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3744468"/>
            <a:ext cx="109728" cy="109728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3671316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SEBRAE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55848" y="3744468"/>
            <a:ext cx="109728" cy="109728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02736" y="3671316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Sicredi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43016" y="3744468"/>
            <a:ext cx="109728" cy="109728"/>
          </a:xfrm>
          <a:prstGeom prst="round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9904" y="3671316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Câmara de Vereadores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4032504"/>
            <a:ext cx="109728" cy="109728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5568" y="3959352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Centro Empresarial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55848" y="4032504"/>
            <a:ext cx="109728" cy="109728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02736" y="3959352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Sindilojas Alegrete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43016" y="4032504"/>
            <a:ext cx="109728" cy="109728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9904" y="3959352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Grupo Pilecco Nobre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4320540"/>
            <a:ext cx="109728" cy="109728"/>
          </a:xfrm>
          <a:prstGeom prst="round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15568" y="4247388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Fundação Maronna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55848" y="4320540"/>
            <a:ext cx="109728" cy="109728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02736" y="4247388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Kabongo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43016" y="4320540"/>
            <a:ext cx="109728" cy="109728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9904" y="4247388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DevPampa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8680" y="4608576"/>
            <a:ext cx="109728" cy="109728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15568" y="4535424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Agrare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55848" y="4608576"/>
            <a:ext cx="109728" cy="109728"/>
          </a:xfrm>
          <a:prstGeom prst="round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02736" y="4535424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Dwtec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843016" y="4608576"/>
            <a:ext cx="109728" cy="109728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89904" y="4535424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EGD Energia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8680" y="4896612"/>
            <a:ext cx="109728" cy="109728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15568" y="4823460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EIXO Data Lab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355848" y="4896612"/>
            <a:ext cx="109728" cy="109728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02736" y="4823460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Controll Customs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843016" y="4896612"/>
            <a:ext cx="109728" cy="109728"/>
          </a:xfrm>
          <a:prstGeom prst="round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89904" y="4823460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Lite SaaS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68680" y="5184648"/>
            <a:ext cx="109728" cy="109728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15568" y="5111496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Venda ERP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355848" y="5184648"/>
            <a:ext cx="109728" cy="109728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02736" y="5111496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Agendei Quadras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843016" y="5184648"/>
            <a:ext cx="109728" cy="109728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89904" y="5111496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Fontoura e Fontoura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68680" y="5472684"/>
            <a:ext cx="109728" cy="109728"/>
          </a:xfrm>
          <a:prstGeom prst="round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15568" y="5399532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SEAC Gestão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355848" y="5472684"/>
            <a:ext cx="109728" cy="109728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02736" y="5399532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Sendas Equipamentos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843016" y="5472684"/>
            <a:ext cx="109728" cy="109728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089904" y="5399532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Rádio Tchê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68680" y="5760720"/>
            <a:ext cx="109728" cy="109728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15568" y="5687568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Vanessa M. P. Vargas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686800" y="3246120"/>
            <a:ext cx="2651760" cy="2743200"/>
          </a:xfrm>
          <a:prstGeom prst="roundRect">
            <a:avLst>
              <a:gd name="adj" fmla="val 6000"/>
            </a:avLst>
          </a:prstGeom>
          <a:solidFill>
            <a:srgbClr val="F2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qr_parceir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2288" y="3547872"/>
            <a:ext cx="1664208" cy="166420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8796528" y="5349240"/>
            <a:ext cx="243230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61E33"/>
                </a:solidFill>
                <a:latin typeface="Arial"/>
              </a:rPr>
              <a:t>Aponte a câmera para ver todos os parceiros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96528" y="5870448"/>
            <a:ext cx="2432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4D8DF7"/>
                </a:solidFill>
                <a:latin typeface="Arial"/>
              </a:rPr>
              <a:t>bia-unipampa.github.io/#parceiros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8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FFB02E"/>
                </a:solidFill>
                <a:latin typeface="Arial"/>
              </a:rPr>
              <a:t>APLICAÇÃO COM RETORNO IMEDIATO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Onde a IA já vira valor.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419856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34440" y="2670048"/>
            <a:ext cx="237744" cy="237744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063240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2F5FC"/>
                </a:solidFill>
                <a:latin typeface="Arial"/>
              </a:rPr>
              <a:t>Agronegócio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474720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BC"/>
                </a:solidFill>
                <a:latin typeface="Arial"/>
              </a:rPr>
              <a:t>Pecuária e lavoura de precisão, com sensores, visão computacional e algoritmos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286000"/>
            <a:ext cx="3419856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37760" y="2670048"/>
            <a:ext cx="237744" cy="237744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3063240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2F5FC"/>
                </a:solidFill>
                <a:latin typeface="Arial"/>
              </a:rPr>
              <a:t>Saúde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474720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BC"/>
                </a:solidFill>
                <a:latin typeface="Arial"/>
              </a:rPr>
              <a:t>Apoio ao diagnóstico e à gestão do SUS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286000"/>
            <a:ext cx="3419856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41080" y="2670048"/>
            <a:ext cx="237744" cy="237744"/>
          </a:xfrm>
          <a:prstGeom prst="round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3063240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2F5FC"/>
                </a:solidFill>
                <a:latin typeface="Arial"/>
              </a:rPr>
              <a:t>Educação Fundamental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474720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BC"/>
                </a:solidFill>
                <a:latin typeface="Arial"/>
              </a:rPr>
              <a:t>Tutoria personalizada e apoio a professores na escola pública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206240"/>
            <a:ext cx="3419856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34440" y="4590288"/>
            <a:ext cx="237744" cy="237744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983479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2F5FC"/>
                </a:solidFill>
                <a:latin typeface="Arial"/>
              </a:rPr>
              <a:t>Tecnologia e inovação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394959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BC"/>
                </a:solidFill>
                <a:latin typeface="Arial"/>
              </a:rPr>
              <a:t>Startups e empresas no ecossistema do PampaTec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4206240"/>
            <a:ext cx="3419856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937760" y="4590288"/>
            <a:ext cx="237744" cy="237744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4983479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2F5FC"/>
                </a:solidFill>
                <a:latin typeface="Arial"/>
              </a:rPr>
              <a:t>Cibersegurança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5394959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BC"/>
                </a:solidFill>
                <a:latin typeface="Arial"/>
              </a:rPr>
              <a:t>Detecção de ameaças e proteção de dados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4206240"/>
            <a:ext cx="3419856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641080" y="4590288"/>
            <a:ext cx="237744" cy="237744"/>
          </a:xfrm>
          <a:prstGeom prst="round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0" y="4983479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2F5FC"/>
                </a:solidFill>
                <a:latin typeface="Arial"/>
              </a:rPr>
              <a:t>Gestão pública por dados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5394959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BC"/>
                </a:solidFill>
                <a:latin typeface="Arial"/>
              </a:rPr>
              <a:t>Políticas e decisões orientadas por evidência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0A1A14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36CF66"/>
                </a:solidFill>
                <a:latin typeface="Arial"/>
              </a:rPr>
              <a:t>CASO CONCRETO  ·  PROGRAMA CENTELHA 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09728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2F5FC"/>
                </a:solidFill>
                <a:latin typeface="Arial"/>
              </a:rPr>
              <a:t>ZapRaf: IA que inclui a agricultura familiar.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5486400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109728" cy="1691640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3852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B02E"/>
                </a:solidFill>
                <a:latin typeface="Arial"/>
              </a:rPr>
              <a:t>O problema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377440"/>
            <a:ext cx="4983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BC"/>
                </a:solidFill>
                <a:latin typeface="Arial"/>
              </a:rPr>
              <a:t>A lei (INC 02/2018) exige rastreabilidade. Os softwares são caros e complexos, excluem o pequeno produtor e o fazem arriscar o acesso ao mercado da merenda escolar (PNAE).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611880"/>
            <a:ext cx="5486400" cy="1691640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 w="12700">
            <a:solidFill>
              <a:srgbClr val="36C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611880"/>
            <a:ext cx="109728" cy="1691640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76732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36CF66"/>
                </a:solidFill>
                <a:latin typeface="Arial"/>
              </a:rPr>
              <a:t>A solução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206240"/>
            <a:ext cx="4983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2F5FC"/>
                </a:solidFill>
                <a:latin typeface="Arial"/>
              </a:rPr>
              <a:t>Um assistente de IA no WhatsApp que valida os dados e gera o QR code de rastreabilidade. Curva de aprendizado zero: tão simples quanto mandar um zap.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1783080"/>
            <a:ext cx="2331720" cy="164592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2011680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B02E"/>
                </a:solidFill>
                <a:latin typeface="Arial"/>
              </a:rPr>
              <a:t>70%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715768"/>
            <a:ext cx="18745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2F5FC"/>
                </a:solidFill>
                <a:latin typeface="Arial"/>
              </a:rPr>
              <a:t>dos alimentos do Brasil vêm da agricultura familiar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783080"/>
            <a:ext cx="2331720" cy="164592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011680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4D8DF7"/>
                </a:solidFill>
                <a:latin typeface="Arial"/>
              </a:rPr>
              <a:t>68%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9448" y="2715768"/>
            <a:ext cx="18745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2F5FC"/>
                </a:solidFill>
                <a:latin typeface="Arial"/>
              </a:rPr>
              <a:t>dos municípios têm nela o motor da economia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611880"/>
            <a:ext cx="2331720" cy="164592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3840480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36CF66"/>
                </a:solidFill>
                <a:latin typeface="Arial"/>
              </a:rPr>
              <a:t>R$ 1,6 bi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4544568"/>
            <a:ext cx="18745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2F5FC"/>
                </a:solidFill>
                <a:latin typeface="Arial"/>
              </a:rPr>
              <a:t>do PNAE destinados à agricultura familiar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25128" y="3611880"/>
            <a:ext cx="2331720" cy="164592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99448" y="3840480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8B6CFF"/>
                </a:solidFill>
                <a:latin typeface="Arial"/>
              </a:rPr>
              <a:t>40 mi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448" y="4544568"/>
            <a:ext cx="18745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2F5FC"/>
                </a:solidFill>
                <a:latin typeface="Arial"/>
              </a:rPr>
              <a:t>de estudantes alimentados por 40 mil agricultores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486400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5486400"/>
            <a:ext cx="10058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AA6BC"/>
                </a:solidFill>
                <a:latin typeface="Arial"/>
              </a:rPr>
              <a:t>Selecionado no Programa Centelha 3/RS (Fase 2)  ·  software e marca registrados no INPI  ·  pesquisas FAPERGS, RNP e RedClara  ·  nascido no ecossistema do BIA e do AI Horizon Labs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61006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FFB02E"/>
                </a:solidFill>
                <a:latin typeface="Arial"/>
              </a:rPr>
              <a:t>O RETORNO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0972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O retorno pode ser muitas vezes o investimento.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9AA6BC"/>
                </a:solidFill>
                <a:latin typeface="Arial"/>
              </a:rPr>
              <a:t>Custo de implantação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60320"/>
            <a:ext cx="2286000" cy="1051560"/>
          </a:xfrm>
          <a:prstGeom prst="roundRect">
            <a:avLst>
              <a:gd name="adj" fmla="val 10000"/>
            </a:avLst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22860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R$ 23 mi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560320"/>
            <a:ext cx="7955279" cy="105156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 w="15875">
            <a:solidFill>
              <a:srgbClr val="FFB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560320"/>
            <a:ext cx="21945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FFB02E"/>
                </a:solidFill>
                <a:latin typeface="Arial"/>
              </a:rPr>
              <a:t>R$ 29 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2560320"/>
            <a:ext cx="52578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2F5FC"/>
                </a:solidFill>
                <a:latin typeface="Arial"/>
              </a:rPr>
              <a:t>Uma única startup de base tecnológica (caso real) já supera, sozinha, todo o investimento.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77639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9AA6BC"/>
                </a:solidFill>
                <a:latin typeface="Arial"/>
              </a:rPr>
              <a:t>Projeção conservadora em 10 anos, e este é apenas o piso.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389120"/>
            <a:ext cx="10424160" cy="1097280"/>
          </a:xfrm>
          <a:prstGeom prst="roundRect">
            <a:avLst>
              <a:gd name="adj" fmla="val 6000"/>
            </a:avLst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389120"/>
            <a:ext cx="100584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0A0E1A"/>
                </a:solidFill>
                <a:latin typeface="Arial"/>
              </a:rPr>
              <a:t>R$ 120 a 180 milhões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76072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36CF66"/>
                </a:solidFill>
                <a:latin typeface="Arial"/>
              </a:rPr>
              <a:t>Com cada nova startup, patente e edital, o teto é aberto.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8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36CF66"/>
                </a:solidFill>
                <a:latin typeface="Arial"/>
              </a:rPr>
              <a:t>IMPACTO PROJETADO  ·  2026 A 2036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O que R$ 23 milhões constroem em uma década.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419856" cy="178308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8720" y="2606040"/>
            <a:ext cx="457200" cy="73152"/>
          </a:xfrm>
          <a:prstGeom prst="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788920"/>
            <a:ext cx="277977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4D8DF7"/>
                </a:solidFill>
                <a:latin typeface="Arial"/>
              </a:rPr>
              <a:t>400+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566160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F5FC"/>
                </a:solidFill>
                <a:latin typeface="Arial"/>
              </a:rPr>
              <a:t>empregos qualificados, diretos e indiretos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286000"/>
            <a:ext cx="3419856" cy="178308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92040" y="2606040"/>
            <a:ext cx="457200" cy="73152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2788920"/>
            <a:ext cx="277977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B02E"/>
                </a:solidFill>
                <a:latin typeface="Arial"/>
              </a:rPr>
              <a:t>15 a 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566160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F5FC"/>
                </a:solidFill>
                <a:latin typeface="Arial"/>
              </a:rPr>
              <a:t>startups e spin-offs de base tecnológica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286000"/>
            <a:ext cx="3419856" cy="178308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95360" y="2606040"/>
            <a:ext cx="457200" cy="73152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2788920"/>
            <a:ext cx="277977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36CF66"/>
                </a:solidFill>
                <a:latin typeface="Arial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566160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F5FC"/>
                </a:solidFill>
                <a:latin typeface="Arial"/>
              </a:rPr>
              <a:t>de empregabilidade dos egressos em 12 meses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270248"/>
            <a:ext cx="3419856" cy="178308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88720" y="4590288"/>
            <a:ext cx="457200" cy="73152"/>
          </a:xfrm>
          <a:prstGeom prst="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773168"/>
            <a:ext cx="277977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8B6CFF"/>
                </a:solidFill>
                <a:latin typeface="Arial"/>
              </a:rPr>
              <a:t>R$ 40 a 70 mi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550408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F5FC"/>
                </a:solidFill>
                <a:latin typeface="Arial"/>
              </a:rPr>
              <a:t>em aportes privados (John Deere, Bayer, SLC, CNH)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4270248"/>
            <a:ext cx="3419856" cy="178308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92040" y="4590288"/>
            <a:ext cx="457200" cy="73152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4773168"/>
            <a:ext cx="277977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B02E"/>
                </a:solidFill>
                <a:latin typeface="Arial"/>
              </a:rPr>
              <a:t>10 + 30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5550408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F5FC"/>
                </a:solidFill>
                <a:latin typeface="Arial"/>
              </a:rPr>
              <a:t>patentes e softwares com aplicação produtiva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4270248"/>
            <a:ext cx="3419856" cy="178308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595360" y="4590288"/>
            <a:ext cx="457200" cy="73152"/>
          </a:xfrm>
          <a:prstGeom prst="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0" y="4773168"/>
            <a:ext cx="277977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4D8DF7"/>
                </a:solidFill>
                <a:latin typeface="Arial"/>
              </a:rPr>
              <a:t>R$ 15 a 30 mi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5550408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F5FC"/>
                </a:solidFill>
                <a:latin typeface="Arial"/>
              </a:rPr>
              <a:t>em captação de editais de P&amp;D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4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8B6CFF"/>
                </a:solidFill>
                <a:latin typeface="Arial"/>
              </a:rPr>
              <a:t>A VISÃO TERRITORIAL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2F5FC"/>
                </a:solidFill>
                <a:latin typeface="Arial"/>
              </a:rPr>
              <a:t>O Vale da Inteligência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B02E"/>
                </a:solidFill>
                <a:latin typeface="Arial"/>
              </a:rPr>
              <a:t>Artificial do Pampa.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5486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9AA6BC"/>
                </a:solidFill>
                <a:latin typeface="Arial"/>
              </a:rPr>
              <a:t>Um novo ecossistema de inovação no interior: parque tecnológico ativo, startups, laboratórios corporativos e atração de investimento.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26280"/>
            <a:ext cx="5486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2F5FC"/>
                </a:solidFill>
                <a:latin typeface="Arial"/>
              </a:rPr>
              <a:t>Mais que empregos: uma nova identidade econômica para o interior do Rio Grande do Sul e do Brasil.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2743200"/>
            <a:ext cx="4754880" cy="32918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3017520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36CF66"/>
                </a:solidFill>
                <a:latin typeface="Arial"/>
              </a:rPr>
              <a:t>Inserção em redes globais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3648456"/>
            <a:ext cx="164592" cy="164592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361188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2F5FC"/>
                </a:solidFill>
                <a:latin typeface="Arial"/>
              </a:rPr>
              <a:t>FAO Innovation Lab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4123944"/>
            <a:ext cx="164592" cy="164592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4087368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2F5FC"/>
                </a:solidFill>
                <a:latin typeface="Arial"/>
              </a:rPr>
              <a:t>CGIAR  ·  AI for Agriculture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4599432"/>
            <a:ext cx="164592" cy="164592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4562856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2F5FC"/>
                </a:solidFill>
                <a:latin typeface="Arial"/>
              </a:rPr>
              <a:t>NVIDIA  ·  Google Cloud for Research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5074920"/>
            <a:ext cx="164592" cy="164592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5038344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2F5FC"/>
                </a:solidFill>
                <a:latin typeface="Arial"/>
              </a:rPr>
              <a:t>Embrapa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5550407"/>
            <a:ext cx="164592" cy="164592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5513831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2F5FC"/>
                </a:solidFill>
                <a:latin typeface="Arial"/>
              </a:rPr>
              <a:t>Laboratórios John Deere e Bayer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8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FFB02E"/>
                </a:solidFill>
                <a:latin typeface="Arial"/>
              </a:rPr>
              <a:t>ALCANCE NACIONAL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Começa na UNIPAMPA. Chega ao Brasil inteiro.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31720"/>
            <a:ext cx="5257800" cy="173736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31720"/>
            <a:ext cx="109728" cy="1737360"/>
          </a:xfrm>
          <a:prstGeom prst="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606039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2F5FC"/>
                </a:solidFill>
                <a:latin typeface="Arial"/>
              </a:rPr>
              <a:t>Especialização em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172968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AA6BC"/>
                </a:solidFill>
                <a:latin typeface="Arial"/>
              </a:rPr>
              <a:t>Demanda reprimida no país. 86% dos pesquisados querem cursar.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331720"/>
            <a:ext cx="5257800" cy="173736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331720"/>
            <a:ext cx="109728" cy="1737360"/>
          </a:xfrm>
          <a:prstGeom prst="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2606039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2F5FC"/>
                </a:solidFill>
                <a:latin typeface="Arial"/>
              </a:rPr>
              <a:t>Mestrado em 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172968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AA6BC"/>
                </a:solidFill>
                <a:latin typeface="Arial"/>
              </a:rPr>
              <a:t>Acadêmico ou profissional. Cerca de 68% de interesse declarado.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270248"/>
            <a:ext cx="5257800" cy="173736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270248"/>
            <a:ext cx="109728" cy="1737360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544568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2F5FC"/>
                </a:solidFill>
                <a:latin typeface="Arial"/>
              </a:rPr>
              <a:t>ENIA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5111496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AA6BC"/>
                </a:solidFill>
                <a:latin typeface="Arial"/>
              </a:rPr>
              <a:t>Escola Nacional de IA: pública, gratuita e híbrida. Lema: IA para todos, de todos os cantos do Brasil.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4270248"/>
            <a:ext cx="5257800" cy="173736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4270248"/>
            <a:ext cx="109728" cy="1737360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4544568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2F5FC"/>
                </a:solidFill>
                <a:latin typeface="Arial"/>
              </a:rPr>
              <a:t>ERAMIA-RS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5111496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AA6BC"/>
                </a:solidFill>
                <a:latin typeface="Arial"/>
              </a:rPr>
              <a:t>Escola Regional de Aprendizado de Máquina e IA, aproximando pesquisa, indústria e comunidade.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610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FFB02E"/>
                </a:solidFill>
                <a:latin typeface="Arial"/>
              </a:rPr>
              <a:t>A PERGUNTA DECISIVA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Por que isto rende mais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B02E"/>
                </a:solidFill>
                <a:latin typeface="Arial"/>
              </a:rPr>
              <a:t>que uma grande obra?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880360"/>
            <a:ext cx="5120640" cy="310896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1546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2F5FC"/>
                </a:solidFill>
                <a:latin typeface="Arial"/>
              </a:rPr>
              <a:t>Uma obra tradicional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6576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9AA6BC"/>
                </a:solidFill>
                <a:latin typeface="Arial"/>
              </a:rPr>
              <a:t>Essencial, porém deprecia.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114800"/>
            <a:ext cx="45720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AA6BC"/>
                </a:solidFill>
                <a:latin typeface="Arial"/>
              </a:rPr>
              <a:t>Uma rodovia, uma ponte ou um prédio servem a um fluxo fixo, num só lugar, e perdem valor com o tempo. Exigem manutenção constante.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880360"/>
            <a:ext cx="5120640" cy="3108960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 w="15875">
            <a:solidFill>
              <a:srgbClr val="FFB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31546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B02E"/>
                </a:solidFill>
                <a:latin typeface="Arial"/>
              </a:rPr>
              <a:t>Um polo de 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6576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36CF66"/>
                </a:solidFill>
                <a:latin typeface="Arial"/>
              </a:rPr>
              <a:t>Um ativo que se valoriza e se multiplica.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4114800"/>
            <a:ext cx="45720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2F5FC"/>
                </a:solidFill>
                <a:latin typeface="Arial"/>
              </a:rPr>
              <a:t>Forma pessoas, empresas e patentes, e potencializa todas as outras obras: o agro, a saúde, a educação e a própria gestão pública.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172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6CF66"/>
                </a:solidFill>
                <a:latin typeface="Arial"/>
              </a:rPr>
              <a:t>A IA é a infraestrutura que multiplica todas as outras.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8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4D8DF7"/>
                </a:solidFill>
                <a:latin typeface="Arial"/>
              </a:rPr>
              <a:t>POLÍTICA PÚBLICA EM EXECUÇÃO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Apoiar o BIA é executar a agenda nacional de 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5257800" cy="841248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88720" y="2587752"/>
            <a:ext cx="237744" cy="237744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2286000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2F5FC"/>
                </a:solidFill>
                <a:latin typeface="Arial"/>
              </a:rPr>
              <a:t>Plano Brasileiro de IA 2025 (IA para o Bem de Todos)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286000"/>
            <a:ext cx="5257800" cy="841248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20840" y="2587752"/>
            <a:ext cx="237744" cy="237744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9480" y="2286000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2F5FC"/>
                </a:solidFill>
                <a:latin typeface="Arial"/>
              </a:rPr>
              <a:t>Plano Nacional de C, T e I 2030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236976"/>
            <a:ext cx="5257800" cy="841248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88720" y="3538728"/>
            <a:ext cx="237744" cy="237744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7360" y="3236976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2F5FC"/>
                </a:solidFill>
                <a:latin typeface="Arial"/>
              </a:rPr>
              <a:t>Estratégia Brasileira de IA (EBIA)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236976"/>
            <a:ext cx="5257800" cy="841248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20840" y="3538728"/>
            <a:ext cx="237744" cy="237744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3236976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2F5FC"/>
                </a:solidFill>
                <a:latin typeface="Arial"/>
              </a:rPr>
              <a:t>Estratégia de Transformação Digital (E-Digital)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87952"/>
            <a:ext cx="5257800" cy="841248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88720" y="4489704"/>
            <a:ext cx="237744" cy="237744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37360" y="4187952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2F5FC"/>
                </a:solidFill>
                <a:latin typeface="Arial"/>
              </a:rPr>
              <a:t>Plano de Neoindustrialização 2024 a 2026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4187952"/>
            <a:ext cx="5257800" cy="841248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720840" y="4489704"/>
            <a:ext cx="237744" cy="237744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4187952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2F5FC"/>
                </a:solidFill>
                <a:latin typeface="Arial"/>
              </a:rPr>
              <a:t>COP30: IA listada como objetivo-chave (item 27)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138928"/>
            <a:ext cx="5257800" cy="841248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88720" y="5440680"/>
            <a:ext cx="237744" cy="237744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0" y="5138928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2F5FC"/>
                </a:solidFill>
                <a:latin typeface="Arial"/>
              </a:rPr>
              <a:t>Universidades Inovadoras SESU / MEC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5138928"/>
            <a:ext cx="5257800" cy="841248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720840" y="5440680"/>
            <a:ext cx="237744" cy="237744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9480" y="5138928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2F5FC"/>
                </a:solidFill>
                <a:latin typeface="Arial"/>
              </a:rPr>
              <a:t>Eixos: agro, SUS, indústria farmacêutica, engenharias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61006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FFB02E"/>
                </a:solidFill>
                <a:latin typeface="Arial"/>
              </a:rPr>
              <a:t>O PEDIDO A VOSSA EXCELÊNCIA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0972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2F5FC"/>
                </a:solidFill>
                <a:latin typeface="Arial"/>
              </a:rPr>
              <a:t>O que falta para destravar o BIA.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419856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 w="12700">
            <a:solidFill>
              <a:srgbClr val="FFB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423160"/>
            <a:ext cx="277977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FFB02E"/>
                </a:solidFill>
                <a:latin typeface="Arial"/>
              </a:rPr>
              <a:t>R$ 23 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200400"/>
            <a:ext cx="2779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F5FC"/>
                </a:solidFill>
                <a:latin typeface="Arial"/>
              </a:rPr>
              <a:t>infraestrutura, GPUs H100 e RTX 4090, e acervo técnico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148840"/>
            <a:ext cx="3419856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 w="12700">
            <a:solidFill>
              <a:srgbClr val="4D8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2423160"/>
            <a:ext cx="277977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4D8DF7"/>
                </a:solidFill>
                <a:latin typeface="Arial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3200400"/>
            <a:ext cx="2779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F5FC"/>
                </a:solidFill>
                <a:latin typeface="Arial"/>
              </a:rPr>
              <a:t>docentes doutores em áreas centrais de 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148840"/>
            <a:ext cx="3419856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 w="12700">
            <a:solidFill>
              <a:srgbClr val="36C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2423160"/>
            <a:ext cx="277977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36CF66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200400"/>
            <a:ext cx="2779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F5FC"/>
                </a:solidFill>
                <a:latin typeface="Arial"/>
              </a:rPr>
              <a:t>técnicos administrativos (2 laboratoristas)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14800"/>
            <a:ext cx="10515600" cy="1920240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3434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36CF66"/>
                </a:solidFill>
                <a:latin typeface="Arial"/>
              </a:rPr>
              <a:t>Buscamos ativamente parcerias e editais para a infraestrutura mínima de IA. Onde a sua atuação destrava: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4983480"/>
            <a:ext cx="182880" cy="182880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49377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2F5FC"/>
                </a:solidFill>
                <a:latin typeface="Arial"/>
              </a:rPr>
              <a:t>Emenda parlamentar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4983480"/>
            <a:ext cx="182880" cy="182880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49377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2F5FC"/>
                </a:solidFill>
                <a:latin typeface="Arial"/>
              </a:rPr>
              <a:t>Articulação com MEC e MCTI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4983480"/>
            <a:ext cx="182880" cy="182880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49377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2F5FC"/>
                </a:solidFill>
                <a:latin typeface="Arial"/>
              </a:rPr>
              <a:t>Editais FINEP e FNDCT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5486400"/>
            <a:ext cx="182880" cy="182880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08760" y="54406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2F5FC"/>
                </a:solidFill>
                <a:latin typeface="Arial"/>
              </a:rPr>
              <a:t>Parcerias com a indústria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5486400"/>
            <a:ext cx="182880" cy="182880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60" y="54406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2F5FC"/>
                </a:solidFill>
                <a:latin typeface="Arial"/>
              </a:rPr>
              <a:t>FAPERGS e fomento estadual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5486400"/>
            <a:ext cx="182880" cy="182880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54406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2F5FC"/>
                </a:solidFill>
                <a:latin typeface="Arial"/>
              </a:rPr>
              <a:t>Cooperação internacional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8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822960"/>
            <a:ext cx="182880" cy="182880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07008" y="822960"/>
            <a:ext cx="182880" cy="182880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91056" y="822960"/>
            <a:ext cx="182880" cy="182880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75104" y="822960"/>
            <a:ext cx="182880" cy="182880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554480"/>
            <a:ext cx="107899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2F5FC"/>
                </a:solidFill>
                <a:latin typeface="Arial"/>
              </a:rPr>
              <a:t>O futuro da IA no Brasil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B02E"/>
                </a:solidFill>
                <a:latin typeface="Arial"/>
              </a:rPr>
              <a:t>pode começar pela sua assinatura.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40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9AA6BC"/>
                </a:solidFill>
                <a:latin typeface="Arial"/>
              </a:rPr>
              <a:t>A janela é agora. A região está pronta, a ciência já existe, o projeto está protocolado. Falta a decisão política que transforma potencial em realidade.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257800"/>
            <a:ext cx="10515600" cy="105156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5440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2F5FC"/>
                </a:solidFill>
                <a:latin typeface="Arial"/>
              </a:rPr>
              <a:t>Grupo Proponente do BIA  ·  UNIPAMPA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5806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BC"/>
                </a:solidFill>
                <a:latin typeface="Arial"/>
              </a:rPr>
              <a:t>bia@unipampa.edu.br  ·  WhatsApp +55 55 99704 7891  ·  bia-unipampa.github.io  ·  ai-horizon-labs.github.io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