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Abertura. Cumprimente e situe: este é o BIA, o primeiro bacharelado do Brasil 100% dedicado à Inteligência Artificial, na UNIPAMPA Campus Alegrete, na Fronteira Oeste. Diga que, em cerca de 15 minutos, vai mostrar por que este projeto pode ser o maior legado tecnológico que o senhor deixa para a região.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Crie o enquadramento grande. A IA é a nova eletricidade: vai redefinir todos os setores. Países e regiões se dividirão entre os que dominam a tecnologia e os que apenas a consomem. Esse é o jogo do século.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o tamanho do prêmio. Até R$ 2 trilhões de potencial na economia brasileira até 2030 (BID). Déficit de 800 mil profissionais (Brasscom). Salários de R$ 9 a 12 mil. Esse valor vai para alguma região: a pergunta é se o interior assiste ou lidera.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Justifique o lugar. A Fronteira Oeste é laboratório natural de IA aplicada (agro, logística, energia). Formar IA aqui fixa talento e renda, descentraliza o desenvolvimento e ainda protege o bioma Pampa. O Brasil que queremos começa pelo interior.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Diferencial central. Não é mais um curso de computação: é o único 100% IA do país (os demais ficam em torno de 50%). 8 semestres, 3.210 horas, 6 eixos, metodologia ABP do primeiro ao último semestre. Formação profunda e aplicada.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Prova de capacidade. Já fazemos ciência de classe mundial aqui: o conjunto de dados MH-1M, com 1,34 milhão de amostras e 22.810 atributos, publicado na Nature Scientific Data em 2025. E o AI Horizon Labs, nosso motor de pesquisa, com publicação no ICSE 2025, financiamento FAPERGS e mais de 5 parcerias. Esse grupo é a base e o veículo de captação de recursos do BIA.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Ponto crítico e ponte para o pedido. Temos os dados e os cérebros. Falta a máquina. 400 GB e 1,34 milhão de amostras não se treinam em computador comum: sem GPUs H100, esses dados de ponta ficam parados. É exatamente esse gargalo que buscamos destravar com apoio, parcerias e editais.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tração real para reduzir a percepção de risco. Protocolo no MEC, concurso público já lançado para 4 vagas, PPC completo de 236 páginas, site no ar. Não é ideia: é execução em andamento. Falta o recurso de implantação.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Prova de demanda e apoio. 357 respostas em pesquisas, 86% de importância máxima, 80% creem em impacto. Mais de 20 municípios, mais de 20 cartas de apoio, 12 bolsas sociais da Prefeitura, apoio unânime dos prefeitos da AMFRO. A base política regional já está construída.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Aterrisse no concreto. Liste as aplicações de retorno imediato: agro de precisão, visão computacional no arroz e na carne, clima por satélite, logística, saúde, gestão pública por dados. IA que vira valor no dia a dia da região.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argumento financeiro. R$ 23 milhões de investimento, retorno de R$ 120 a 180 milhões em dez anos: multiplicador de 5 a 8 vezes, com retorno em até 6 anos. Educação pública que se paga e se multiplica.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Detalhe o retorno. Mais de 400 empregos, 15 a 20 startups, 100% de empregabilidade em 12 meses, R$ 40 a 70 milhões em aportes privados de gigantes do agro, patentes e softwares, R$ 15 a 30 milhões em editais de P&amp;D.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Pinte a visão de longo prazo. O Vale da IA do Pampa: novo ecossistema, identidade econômica nova para a região e inserção em redes globais (FAO, CGIAR, NVIDIA, Google Research, Embrapa, laboratórios John Deere e Bayer).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que o alcance ultrapassa a região. Especialização (alta demanda), mestrado, a ENIA (Escola Nacional de IA, pública e gratuita, IA para todos) e a ERAMIA-RS. Começa em Alegrete e chega ao Brasil inteiro.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Clímax do pitch. Por que pode importar mais que um hospital regional? Um hospital tem impacto essencial, porém linear. Um polo de IA tem impacto exponencial e composto: forma quem cria empresas, empregos, patentes e ferramentas que melhoram até a própria saúde. Deixe claro: não é escolher entre saúde e tecnologia; a IA fortalece também a saúde.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Reduza o risco político. Apoiar o BIA é executar a agenda nacional já existente: PBIA 2025, PNCTI 2030, EBIA, E-Digital, Neoindustrialização, COP30 (item 27), Universidades Inovadoras. O senhor entra alinhado com o Estado brasileiro.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pedido, claro e direto. R$ 23 milhões (infraestrutura, GPUs H100 e RTX 4090, acervo), 15 docentes doutores e 3 técnicos. E mostre os caminhos concretos de atuação: emenda parlamentar, articulação com MEC e MCTI, editais FINEP e FNDCT, parcerias com a indústria, FAPERGS, cooperação internacional. Buscamos ativamente parcerias e editais para a infraestrutura mínima de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 emocional. A janela é agora: região pronta, ciência existente, projeto protocolado. Falta a decisão política. Convide o deputado a ser lembrado como quem trouxe o futuro da IA para a Fronteira Oeste. Deixe os contatos e ofereça uma visita ao campus e ao AI Horizon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13232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07008" y="713232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91056" y="713232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75104" y="713232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20">
                <a:solidFill>
                  <a:srgbClr val="9AA6BC"/>
                </a:solidFill>
                <a:latin typeface="Arial"/>
              </a:rPr>
              <a:t>UNIVERSIDADE FEDERAL DO PAMPA  ·  CAMPUS ALEGRETE  ·  FRONTEIRA OESTE / 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1168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F2F5FC"/>
                </a:solidFill>
                <a:latin typeface="Arial"/>
              </a:rPr>
              <a:t>BIA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B02E"/>
                </a:solidFill>
                <a:latin typeface="Arial"/>
              </a:rPr>
              <a:t>Bacharelado em Inteligência Artificial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F2F5FC"/>
                </a:solidFill>
                <a:latin typeface="Arial"/>
              </a:rPr>
              <a:t>O primeiro curso de graduação do Brasil com 100% da matriz dedicada à Inteligência Artificial.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978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6BC"/>
                </a:solidFill>
                <a:latin typeface="Arial"/>
              </a:rPr>
              <a:t>Proposta de implantação  ·  Protocolo MEC NUP 23000.037497/2025-83  ·  bia.unipampa.edu.br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610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86384"/>
            <a:ext cx="310896" cy="64008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65836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8B6CFF"/>
                </a:solidFill>
                <a:latin typeface="Arial"/>
              </a:rPr>
              <a:t>O PONTO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54480"/>
            <a:ext cx="106984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2F5FC"/>
                </a:solidFill>
                <a:latin typeface="Arial"/>
              </a:rPr>
              <a:t>A IA é a nova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B02E"/>
                </a:solidFill>
                <a:latin typeface="Arial"/>
              </a:rPr>
              <a:t>eletricidade.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424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9AA6BC"/>
                </a:solidFill>
                <a:latin typeface="Arial"/>
              </a:rPr>
              <a:t>Como a eletricidade no século XX, a Inteligência Artificial vai redefinir todos os setores: o agro, a saúde, a indústria, a segurança e o Estado.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F2F5FC"/>
                </a:solidFill>
                <a:latin typeface="Arial"/>
              </a:rPr>
              <a:t>A pergunta não é </a:t>
            </a:r>
            <a:r>
              <a:rPr sz="2000" b="1" i="1">
                <a:solidFill>
                  <a:srgbClr val="36CF66"/>
                </a:solidFill>
                <a:latin typeface="Arial"/>
              </a:rPr>
              <a:t>se</a:t>
            </a:r>
            <a:r>
              <a:rPr sz="2000" b="0" i="0">
                <a:solidFill>
                  <a:srgbClr val="F2F5FC"/>
                </a:solidFill>
                <a:latin typeface="Arial"/>
              </a:rPr>
              <a:t> isso vai acontecer. É </a:t>
            </a:r>
            <a:r>
              <a:rPr sz="2000" b="1" i="0">
                <a:solidFill>
                  <a:srgbClr val="FFB02E"/>
                </a:solidFill>
                <a:latin typeface="Arial"/>
              </a:rPr>
              <a:t>quem</a:t>
            </a:r>
            <a:r>
              <a:rPr sz="2000" b="0" i="0">
                <a:solidFill>
                  <a:srgbClr val="F2F5FC"/>
                </a:solidFill>
                <a:latin typeface="Arial"/>
              </a:rPr>
              <a:t> vai dominar a tecnologia, e quem vai apenas consumi-la.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 Campus Alegrete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O TAMANHO DA OPORTUNIDADE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2F5FC"/>
                </a:solidFill>
                <a:latin typeface="Arial"/>
              </a:rPr>
              <a:t>A corrida já começou. E vale trilhões.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419856" cy="2834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109728" cy="283464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697480"/>
            <a:ext cx="2779776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R$ 2 tri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749039"/>
            <a:ext cx="26883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2F5FC"/>
                </a:solidFill>
                <a:latin typeface="Arial"/>
              </a:rPr>
              <a:t>potencial de acréscimo à economia brasileira até 2030 com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681728"/>
            <a:ext cx="2779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80">
                <a:solidFill>
                  <a:srgbClr val="66728A"/>
                </a:solidFill>
                <a:latin typeface="Arial"/>
              </a:rPr>
              <a:t>FONTE: BID, 2023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286000"/>
            <a:ext cx="3419856" cy="2834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286000"/>
            <a:ext cx="109728" cy="2834640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697480"/>
            <a:ext cx="2779776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4D8DF7"/>
                </a:solidFill>
                <a:latin typeface="Arial"/>
              </a:rPr>
              <a:t>800 mil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749039"/>
            <a:ext cx="26883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2F5FC"/>
                </a:solidFill>
                <a:latin typeface="Arial"/>
              </a:rPr>
              <a:t>déficit de profissionais de tecnologia no Brasil até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681728"/>
            <a:ext cx="2779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80">
                <a:solidFill>
                  <a:srgbClr val="66728A"/>
                </a:solidFill>
                <a:latin typeface="Arial"/>
              </a:rPr>
              <a:t>FONTE: BRASSCOM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286000"/>
            <a:ext cx="3419856" cy="2834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286000"/>
            <a:ext cx="109728" cy="28346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2697480"/>
            <a:ext cx="2779776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36CF66"/>
                </a:solidFill>
                <a:latin typeface="Arial"/>
              </a:rPr>
              <a:t>R$ 9 a 12 mil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749039"/>
            <a:ext cx="26883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2F5FC"/>
                </a:solidFill>
                <a:latin typeface="Arial"/>
              </a:rPr>
              <a:t>salário inicial de um profissional de IA no país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681728"/>
            <a:ext cx="2779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80">
                <a:solidFill>
                  <a:srgbClr val="66728A"/>
                </a:solidFill>
                <a:latin typeface="Arial"/>
              </a:rPr>
              <a:t>FONTE: DEMANDA REPRIMIDA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3212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9AA6BC"/>
                </a:solidFill>
                <a:latin typeface="Arial"/>
              </a:rPr>
              <a:t>Esse valor vai para alguma região. A questão é: </a:t>
            </a:r>
            <a:r>
              <a:rPr sz="1900" b="1" i="0">
                <a:solidFill>
                  <a:srgbClr val="FFB02E"/>
                </a:solidFill>
                <a:latin typeface="Arial"/>
              </a:rPr>
              <a:t>o interior vai assistir ou vai liderar?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 Campus Alegrete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0A1A14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36CF66"/>
                </a:solidFill>
                <a:latin typeface="Arial"/>
              </a:rPr>
              <a:t>POR QUE ALEGRETE, POR QUE O PAMPA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2F5FC"/>
                </a:solidFill>
                <a:latin typeface="Arial"/>
              </a:rPr>
              <a:t>O Brasil que queremos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36CF66"/>
                </a:solidFill>
                <a:latin typeface="Arial"/>
              </a:rPr>
              <a:t>começa pelo interior.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80360"/>
            <a:ext cx="82296" cy="12344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83464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Laboratório natural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91840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A Fronteira Oeste é potência em agro, logística e energia: o cenário ideal para IA aplicada com retorno real e imediato.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2880360"/>
            <a:ext cx="82296" cy="12344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83464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Talento que fica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291840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Formar IA no interior reduz a evasão de jovens qualificados e fixa renda alta (R$ 9 a 12 mil) na região.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26280"/>
            <a:ext cx="82296" cy="12344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48056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Descentralizar o futuro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937760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Inovação de ponta não pode se concentrar só nas capitais. O desenvolvimento equilibrado combate a desigualdade territorial.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4526280"/>
            <a:ext cx="82296" cy="12344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448056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Bioma único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937760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O Pampa, um dos biomas mais ameaçados do país, ganha tecnologia de vanguarda para preservação e transição climática justa.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 Campus Alegrete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A PROPOSTA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Não é mais um curso de computação. É o primeiro 100% 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AA6BC"/>
                </a:solidFill>
                <a:latin typeface="Arial"/>
              </a:rPr>
              <a:t>Percentual da matriz dedicado à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8658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2F5FC"/>
                </a:solidFill>
                <a:latin typeface="Arial"/>
              </a:rPr>
              <a:t>BIA UNIPAMPA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4937760" cy="640080"/>
          </a:xfrm>
          <a:prstGeom prst="roundRect">
            <a:avLst>
              <a:gd name="adj" fmla="val 50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697480"/>
            <a:ext cx="4937760" cy="640080"/>
          </a:xfrm>
          <a:prstGeom prst="roundRect">
            <a:avLst>
              <a:gd name="adj" fmla="val 50000"/>
            </a:avLst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A0E1A"/>
                </a:solidFill>
                <a:latin typeface="Arial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8386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2F5FC"/>
                </a:solidFill>
                <a:latin typeface="Arial"/>
              </a:rPr>
              <a:t>UFG / UFRN / UFSM / UFMS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94760"/>
            <a:ext cx="4937760" cy="640080"/>
          </a:xfrm>
          <a:prstGeom prst="roundRect">
            <a:avLst>
              <a:gd name="adj" fmla="val 50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3794760"/>
            <a:ext cx="2468880" cy="640080"/>
          </a:xfrm>
          <a:prstGeom prst="roundRect">
            <a:avLst>
              <a:gd name="adj" fmla="val 50000"/>
            </a:avLst>
          </a:prstGeom>
          <a:solidFill>
            <a:srgbClr val="667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794760"/>
            <a:ext cx="2286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Os demais cursos do país reaproveitam disciplinas genéricas de Ciência da Computação. O BIA foi concebido do zero, integralmente em IA moderna.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148840"/>
            <a:ext cx="5029200" cy="393192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468880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B02E"/>
                </a:solidFill>
                <a:latin typeface="Arial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468880"/>
            <a:ext cx="2606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semestres de formação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3291840"/>
            <a:ext cx="4114800" cy="10972"/>
          </a:xfrm>
          <a:prstGeom prst="rect">
            <a:avLst/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355848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B02E"/>
                </a:solidFill>
                <a:latin typeface="Arial"/>
              </a:rPr>
              <a:t>3.210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355848"/>
            <a:ext cx="2606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horas de curso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4178808"/>
            <a:ext cx="4114800" cy="10972"/>
          </a:xfrm>
          <a:prstGeom prst="rect">
            <a:avLst/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4242816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B02E"/>
                </a:solidFill>
                <a:latin typeface="Arial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242816"/>
            <a:ext cx="2606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eixos estruturantes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5065776"/>
            <a:ext cx="4114800" cy="10972"/>
          </a:xfrm>
          <a:prstGeom prst="rect">
            <a:avLst/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5129784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B02E"/>
                </a:solidFill>
                <a:latin typeface="Arial"/>
              </a:rPr>
              <a:t>ABP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5129784"/>
            <a:ext cx="2606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aprendizagem baseada em problemas, do 1º ao último semestre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 Campus Alegrete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4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8B6CFF"/>
                </a:solidFill>
                <a:latin typeface="Arial"/>
              </a:rPr>
              <a:t>NÃO PARTIMOS DO 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Já fazemos ciência de IA de classe mundial, aqui.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6400800" cy="370332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5875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3000" y="2468880"/>
            <a:ext cx="3863339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459736"/>
            <a:ext cx="386333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120">
                <a:solidFill>
                  <a:srgbClr val="8B6CFF"/>
                </a:solidFill>
                <a:latin typeface="Arial"/>
              </a:rPr>
              <a:t>NATURE  ·  SCIENTIFIC DATA  · 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63240"/>
            <a:ext cx="5852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2F5FC"/>
                </a:solidFill>
                <a:latin typeface="Arial"/>
              </a:rPr>
              <a:t>MH-1M</a:t>
            </a:r>
            <a:r>
              <a:rPr sz="2000" b="0" i="0">
                <a:solidFill>
                  <a:srgbClr val="9AA6BC"/>
                </a:solidFill>
                <a:latin typeface="Arial"/>
              </a:rPr>
              <a:t> 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93192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Um dos maiores conjuntos de dados de malware Android do mundo, publicado na Nature por pesquisadores da UNIPAMPA e da UFAM.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89204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B02E"/>
                </a:solidFill>
                <a:latin typeface="Arial"/>
              </a:rPr>
              <a:t>1,34 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3492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amostras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89204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B02E"/>
                </a:solidFill>
                <a:latin typeface="Arial"/>
              </a:rPr>
              <a:t>22.810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53492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atributos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489204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B02E"/>
                </a:solidFill>
                <a:latin typeface="Arial"/>
              </a:rPr>
              <a:t>400+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53492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de dados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2194560"/>
            <a:ext cx="3886200" cy="370332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2194560"/>
            <a:ext cx="3886200" cy="109728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251460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2F5FC"/>
                </a:solidFill>
                <a:latin typeface="Arial"/>
              </a:rPr>
              <a:t>AI Horizon Labs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0632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6CF66"/>
                </a:solidFill>
                <a:latin typeface="Arial"/>
              </a:rPr>
              <a:t>O motor de pesquisa do campus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65760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B02E"/>
                </a:solidFill>
                <a:latin typeface="Arial"/>
              </a:rPr>
              <a:t>ICSE 2025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9AA6BC"/>
                </a:solidFill>
                <a:latin typeface="Arial"/>
              </a:rPr>
              <a:t>publicação em conferência de ponta mundial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261104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B02E"/>
                </a:solidFill>
                <a:latin typeface="Arial"/>
              </a:rPr>
              <a:t>FAPERGS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9AA6BC"/>
                </a:solidFill>
                <a:latin typeface="Arial"/>
              </a:rPr>
              <a:t>financiamento de pesquisa aprovado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864608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B02E"/>
                </a:solidFill>
                <a:latin typeface="Arial"/>
              </a:rPr>
              <a:t>5+ parcerias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9AA6BC"/>
                </a:solidFill>
                <a:latin typeface="Arial"/>
              </a:rPr>
              <a:t>já estabelecidas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468112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B02E"/>
                </a:solidFill>
                <a:latin typeface="Arial"/>
              </a:rPr>
              <a:t>ML  ·  PLN  ·  Eng. de Software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9AA6BC"/>
                </a:solidFill>
                <a:latin typeface="Arial"/>
              </a:rPr>
              <a:t>linhas de pesquisa ativas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 Campus Alegrete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A0E12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0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05A5A"/>
                </a:solidFill>
                <a:latin typeface="Arial"/>
              </a:rPr>
              <a:t>O PONTO CRÍTICO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88720"/>
            <a:ext cx="10789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2F5FC"/>
                </a:solidFill>
                <a:latin typeface="Arial"/>
              </a:rPr>
              <a:t>Temos os dados. Temos os cérebros.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B02E"/>
                </a:solidFill>
                <a:latin typeface="Arial"/>
              </a:rPr>
              <a:t>Falta a máquina.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F2F5FC"/>
                </a:solidFill>
                <a:latin typeface="Arial"/>
              </a:rPr>
              <a:t>Um conjunto de 400 GB e 1,34 milhão de amostras não se treina em computador comum.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6400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9AA6BC"/>
                </a:solidFill>
                <a:latin typeface="Arial"/>
              </a:rPr>
              <a:t>Sem GPUs de alto desempenho, esses dados de ponta ficam parados. A produção científica existe, mas não se converte em modelos, produtos e patentes.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743200"/>
            <a:ext cx="3840480" cy="320040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 w="15875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301752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B02E"/>
                </a:solidFill>
                <a:latin typeface="Arial"/>
              </a:rPr>
              <a:t>A infraestrutura mínima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566160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2F5FC"/>
                </a:solidFill>
                <a:latin typeface="Arial"/>
              </a:rPr>
              <a:t>10x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3566160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GPUs NVIDIA H100 (servidores)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343400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2F5FC"/>
                </a:solidFill>
                <a:latin typeface="Arial"/>
              </a:rPr>
              <a:t>50x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4343400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estações com RTX 4090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120640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2F5FC"/>
                </a:solidFill>
                <a:latin typeface="Arial"/>
              </a:rPr>
              <a:t>LLMs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5120640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treino e ajuste fino de modelos de 7B a 70B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150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6CF66"/>
                </a:solidFill>
                <a:latin typeface="Arial"/>
              </a:rPr>
              <a:t>Esse é exatamente o gargalo que buscamos destravar com apoio, parcerias e editais.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 Campus Alegrete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36CF66"/>
                </a:solidFill>
                <a:latin typeface="Arial"/>
              </a:rPr>
              <a:t>TRAÇÃO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Isto não é uma ideia no papel. Já está acontecendo.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109728" cy="1691640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606039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Protocolo no MEC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20040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Demanda do curso e dos recursos registrada oficialmente. NUP 23000.037497/2025-83.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33172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331720"/>
            <a:ext cx="109728" cy="169164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606039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Concurso já lançado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20040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Concurso público aberto para 4 vagas de docentes do novo bacharelado, no Campus Alegrete.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5196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251960"/>
            <a:ext cx="109728" cy="1691640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526280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PPC pronto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12064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Projeto Pedagógico completo: 236 páginas, com matriz curricular moderna e validada.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25196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4251960"/>
            <a:ext cx="109728" cy="16916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526280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Presença pública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12064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Site oficial, identidade visual e comunicação ativa do curso já no 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 Campus Alegrete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0A1A14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36CF66"/>
                </a:solidFill>
                <a:latin typeface="Arial"/>
              </a:rPr>
              <a:t>APOIO SOCIAL E INSTITUCIONAL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A região já disse sim. Em números e em cartas.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419856" cy="182880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560320"/>
            <a:ext cx="277977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4D8DF7"/>
                </a:solidFill>
                <a:latin typeface="Arial"/>
              </a:rPr>
              <a:t>357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520440"/>
            <a:ext cx="26883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respostas em pesquisas de interesse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286000"/>
            <a:ext cx="3419856" cy="182880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560320"/>
            <a:ext cx="277977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FFB02E"/>
                </a:solidFill>
                <a:latin typeface="Arial"/>
              </a:rPr>
              <a:t>86%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520440"/>
            <a:ext cx="26883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consideram o curso da máxima importância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286000"/>
            <a:ext cx="3419856" cy="182880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2560320"/>
            <a:ext cx="277977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36CF66"/>
                </a:solidFill>
                <a:latin typeface="Arial"/>
              </a:rPr>
              <a:t>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520440"/>
            <a:ext cx="26883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creem em impacto positivo na região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43400"/>
            <a:ext cx="10515600" cy="169164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61772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+20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2578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municípios da Fronteira Oeste e do Pampa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61772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+20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52578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cartas oficiais de apoio de empresas e entidades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61772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2578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bolsas sociais anuais (Prefeitura de Alegrete)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461772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52578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dos prefeitos da AMFRO apoiam a proposta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0533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40">
                <a:solidFill>
                  <a:srgbClr val="66728A"/>
                </a:solidFill>
                <a:latin typeface="Arial"/>
              </a:rPr>
              <a:t>AMFRO  ·  ULFRO  ·  CODEPAMPA  ·  Parque Tecnológico de Alegrete (PampaTec)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 Campus Alegrete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APLICAÇÃO COM RETORNO IMEDIATO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Onde a IA vira valor na Fronteira Oeste.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34440" y="2670048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06324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Agro de precisão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47472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Sensores e algoritmos na pecuária e na lavoura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28600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37760" y="2670048"/>
            <a:ext cx="237744" cy="237744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306324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Visão computacional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47472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Controle de qualidade do arroz e da carne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28600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41080" y="2670048"/>
            <a:ext cx="237744" cy="237744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306324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Clima por satélite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47472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Monitoramento e previsão para o campo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2062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34440" y="4590288"/>
            <a:ext cx="237744" cy="237744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98347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Logística inteligente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39495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Otimização de rotas e de estoques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42062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937760" y="4590288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98347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Saúde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39495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Apoio ao diagnóstico e à gestão do SUS regional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2062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41080" y="4590288"/>
            <a:ext cx="237744" cy="237744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498347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Gestão pública por dados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539495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Políticas e decisões orientadas por evidência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 Campus Alegrete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61006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O NÚMERO QUE IMPORTA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Cada R$ 1 investido pode retornar de R$ 5 a R$ 8.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AA6BC"/>
                </a:solidFill>
                <a:latin typeface="Arial"/>
              </a:rPr>
              <a:t>Investimento de implantação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06040"/>
            <a:ext cx="1554480" cy="868680"/>
          </a:xfrm>
          <a:prstGeom prst="roundRect">
            <a:avLst>
              <a:gd name="adj" fmla="val 12000"/>
            </a:avLst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554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R$ 23 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AA6BC"/>
                </a:solidFill>
                <a:latin typeface="Arial"/>
              </a:rPr>
              <a:t>Retorno projetado em 10 anos (2026 a 2036)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297680"/>
            <a:ext cx="10424160" cy="1143000"/>
          </a:xfrm>
          <a:prstGeom prst="roundRect">
            <a:avLst>
              <a:gd name="adj" fmla="val 6000"/>
            </a:avLst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297680"/>
            <a:ext cx="100584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A0E1A"/>
                </a:solidFill>
                <a:latin typeface="Arial"/>
              </a:rPr>
              <a:t>R$ 120 a 180 milhões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150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9AA6BC"/>
                </a:solidFill>
                <a:latin typeface="Arial"/>
              </a:rPr>
              <a:t>Cenário conservador, com retorno do investimento em até 6 anos. </a:t>
            </a:r>
            <a:r>
              <a:rPr sz="1600" b="1" i="0">
                <a:solidFill>
                  <a:srgbClr val="36CF66"/>
                </a:solidFill>
                <a:latin typeface="Arial"/>
              </a:rPr>
              <a:t>Educação pública que se paga, e multiplica.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 Campus Alegrete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36CF66"/>
                </a:solidFill>
                <a:latin typeface="Arial"/>
              </a:rPr>
              <a:t>IMPACTO PROJETADO  ·  2026 A 2036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O que R$ 23 milhões constroem em uma década.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2606040"/>
            <a:ext cx="457200" cy="73152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78892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4D8DF7"/>
                </a:solidFill>
                <a:latin typeface="Arial"/>
              </a:rPr>
              <a:t>400+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empregos qualificados, diretos e indiretos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286000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92040" y="2606040"/>
            <a:ext cx="457200" cy="73152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78892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B02E"/>
                </a:solidFill>
                <a:latin typeface="Arial"/>
              </a:rPr>
              <a:t>15 a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56616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startups e spin-offs de base tecnológica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286000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0" y="2606040"/>
            <a:ext cx="457200" cy="73152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78892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36CF66"/>
                </a:solidFill>
                <a:latin typeface="Arial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56616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de empregabilidade dos egressos em 12 meses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270248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88720" y="4590288"/>
            <a:ext cx="457200" cy="73152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773168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8B6CFF"/>
                </a:solidFill>
                <a:latin typeface="Arial"/>
              </a:rPr>
              <a:t>R$ 40 a 70 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550408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em aportes privados (John Deere, Bayer, SLC, CNH)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4270248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92040" y="4590288"/>
            <a:ext cx="457200" cy="73152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773168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B02E"/>
                </a:solidFill>
                <a:latin typeface="Arial"/>
              </a:rPr>
              <a:t>10 + 30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550408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patentes e softwares com aplicação produtiva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270248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95360" y="4590288"/>
            <a:ext cx="457200" cy="73152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4773168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4D8DF7"/>
                </a:solidFill>
                <a:latin typeface="Arial"/>
              </a:rPr>
              <a:t>R$ 15 a 30 mi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5550408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em captação de editais de P&amp;D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 Campus Alegrete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4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8B6CFF"/>
                </a:solidFill>
                <a:latin typeface="Arial"/>
              </a:rPr>
              <a:t>A VISÃO TERRITORIAL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2F5FC"/>
                </a:solidFill>
                <a:latin typeface="Arial"/>
              </a:rPr>
              <a:t>O Vale da Inteligência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B02E"/>
                </a:solidFill>
                <a:latin typeface="Arial"/>
              </a:rPr>
              <a:t>Artificial do Pampa.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9AA6BC"/>
                </a:solidFill>
                <a:latin typeface="Arial"/>
              </a:rPr>
              <a:t>Um novo ecossistema de inovação no interior: parque tecnológico ativo, startups, laboratórios corporativos e atração de investimento.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Mais que empregos: uma nova identidade econômica para a Fronteira Oeste.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743200"/>
            <a:ext cx="4754880" cy="32918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301752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6CF66"/>
                </a:solidFill>
                <a:latin typeface="Arial"/>
              </a:rPr>
              <a:t>Inserção em redes globais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648456"/>
            <a:ext cx="164592" cy="164592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36118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FAO Innovation Lab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4123944"/>
            <a:ext cx="164592" cy="164592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408736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CGIAR  ·  AI for Agriculture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4599432"/>
            <a:ext cx="164592" cy="164592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4562856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NVIDIA  ·  Google Cloud for Research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5074920"/>
            <a:ext cx="164592" cy="164592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5038344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Embrapa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5550407"/>
            <a:ext cx="164592" cy="164592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5513831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Laboratórios John Deere e Bayer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 Campus Alegrete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ALCANCE NACIONAL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Começa em Alegrete. Chega ao Brasil inteiro.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109728" cy="1737360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606039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Especialização em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7296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Demanda reprimida no país. 86% dos pesquisados querem cursar.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331720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331720"/>
            <a:ext cx="109728" cy="1737360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606039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Mestrado em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17296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Acadêmico ou profissional. Cerca de 68% de interesse declarado.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70248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270248"/>
            <a:ext cx="109728" cy="173736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54456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ENIA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11149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Escola Nacional de IA: pública, gratuita e híbrida. Lema: IA para todos, de todos os cantos do Brasil.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270248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4270248"/>
            <a:ext cx="109728" cy="173736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54456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ERAMIA-RS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11149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Escola Regional de Aprendizado de Máquina e IA, aproximando pesquisa, indústria e comunidade.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 Campus Alegrete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610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A PERGUNTA DECISIVA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Por que isto pode importar mais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que um hospital regional?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5120640" cy="31089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1546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2F5FC"/>
                </a:solidFill>
                <a:latin typeface="Arial"/>
              </a:rPr>
              <a:t>Um hospital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6576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9AA6BC"/>
                </a:solidFill>
                <a:latin typeface="Arial"/>
              </a:rPr>
              <a:t>Impacto essencial, porém linear.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114800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Atende um número definido de pessoas por ano. Seu alcance é local e estável. Indispensável, mas não se multiplica.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880360"/>
            <a:ext cx="5120640" cy="310896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5875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1546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B02E"/>
                </a:solidFill>
                <a:latin typeface="Arial"/>
              </a:rPr>
              <a:t>Um polo de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6576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6CF66"/>
                </a:solidFill>
                <a:latin typeface="Arial"/>
              </a:rPr>
              <a:t>Impacto exponencial e composto.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114800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Forma pessoas que criam empresas, empregos e patentes, e ferramentas que melhoram a própria saúde, o agro e a gestão pública. Multiplica por décadas.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72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6CF66"/>
                </a:solidFill>
                <a:latin typeface="Arial"/>
              </a:rPr>
              <a:t>Não é escolher entre saúde e tecnologia. A IA fortalece também a saúde, e tudo o mais.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 Campus Alegrete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4D8DF7"/>
                </a:solidFill>
                <a:latin typeface="Arial"/>
              </a:rPr>
              <a:t>POLÍTICA PÚBLICA EM EXECUÇÃO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Apoiar o BIA é executar a agenda nacional de 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720" y="2587752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228600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Plano Brasileiro de IA 2025 (IA para o Bem de Todos)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286000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20840" y="2587752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228600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Plano Nacional de C, T e I 2030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36976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88720" y="3538728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3236976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Estratégia Brasileira de IA (EBIA)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236976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20840" y="3538728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3236976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Estratégia de Transformação Digital (E-Digital)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87952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88720" y="4489704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4187952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Plano de Neoindustrialização 2024 a 2026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187952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20840" y="4489704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4187952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COP30: IA listada como objetivo-chave (item 27)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138928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88720" y="5440680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0" y="5138928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Universidades Inovadoras SESU / MEC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5138928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20840" y="5440680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5138928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Eixos: agro, SUS, indústria farmacêutica, engenharias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 Campus Alegrete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61006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O PEDIDO A VOSSA EXCELÊNCIA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972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2F5FC"/>
                </a:solidFill>
                <a:latin typeface="Arial"/>
              </a:rPr>
              <a:t>O que falta para destravar o BIA.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 w="12700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42316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B02E"/>
                </a:solidFill>
                <a:latin typeface="Arial"/>
              </a:rPr>
              <a:t>R$ 23 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2779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infraestrutura, GPUs H100 e RTX 4090, e acervo técnico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1488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 w="12700">
            <a:solidFill>
              <a:srgbClr val="4D8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242316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4D8DF7"/>
                </a:solidFill>
                <a:latin typeface="Arial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3200400"/>
            <a:ext cx="2779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docentes doutores em áreas centrais de 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1488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 w="12700">
            <a:solidFill>
              <a:srgbClr val="36C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42316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36CF66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200400"/>
            <a:ext cx="2779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técnicos administrativos (2 laboratoristas)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14800"/>
            <a:ext cx="10515600" cy="192024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343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36CF66"/>
                </a:solidFill>
                <a:latin typeface="Arial"/>
              </a:rPr>
              <a:t>Buscamos ativamente parcerias e editais para a infraestrutura mínima de IA. Onde a sua atuação destrava: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498348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49377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Emenda parlamentar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498348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49377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Articulação com MEC e MCTI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498348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49377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Editais FINEP e FNDCT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48640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5440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Parcerias com a indústria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548640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5440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FAPERGS e fomento estadual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548640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5440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Cooperação internacional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 Campus Alegrete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07008" y="822960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91056" y="822960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75104" y="82296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54480"/>
            <a:ext cx="107899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2F5FC"/>
                </a:solidFill>
                <a:latin typeface="Arial"/>
              </a:rPr>
              <a:t>O futuro da IA no Brasil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B02E"/>
                </a:solidFill>
                <a:latin typeface="Arial"/>
              </a:rPr>
              <a:t>pode começar pela sua assinatura.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9AA6BC"/>
                </a:solidFill>
                <a:latin typeface="Arial"/>
              </a:rPr>
              <a:t>A janela é agora. A região está pronta, a ciência já existe, o projeto está protocolado. Falta a decisão política que transforma potencial em realidade.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257800"/>
            <a:ext cx="10515600" cy="10515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440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2F5FC"/>
                </a:solidFill>
                <a:latin typeface="Arial"/>
              </a:rPr>
              <a:t>Grupo Proponente do BIA  ·  UNIPAMPA Campus Alegrete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bia@unipampa.edu.br  ·  WhatsApp +55 55 99704 7891  ·  bia.unipampa.edu.br  ·  ai-horizon-labs.github.io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